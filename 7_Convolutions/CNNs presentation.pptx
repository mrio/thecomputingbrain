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Average"/>
      <p:regular r:id="rId34"/>
    </p:embeddedFont>
    <p:embeddedFont>
      <p:font typeface="Oswald"/>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e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Oswald-regular.fntdata"/><Relationship Id="rId12" Type="http://schemas.openxmlformats.org/officeDocument/2006/relationships/slide" Target="slides/slide6.xml"/><Relationship Id="rId34" Type="http://schemas.openxmlformats.org/officeDocument/2006/relationships/font" Target="fonts/Average-regular.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Oswa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9-10T18:58:44.640">
    <p:pos x="6000" y="0"/>
    <p:text>please see the notes below</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109/CBI.2017.23"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eebb4d91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eebb4d91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eebb4d91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eebb4d914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eebb4d914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eebb4d914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ef19fba33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ef19fba33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f5ef9dcbb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f5ef9dcbb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f5ef9dcbb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f5ef9dcbb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f5ef9dcbb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f5ef9dcbb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f5ef9dcbb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f5ef9dcbb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eebb4d94f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eebb4d94f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f58b37f9b8_0_6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f58b37f9b8_0_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f58b37f9b8_0_2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f58b37f9b8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f58b37f9b8_0_6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f58b37f9b8_0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f58b37f9b8_0_6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f58b37f9b8_0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f58b37f9b8_0_7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f58b37f9b8_0_7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f58b37f9b8_0_9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f58b37f9b8_0_9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f58b37f9b8_0_9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f58b37f9b8_0_9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f58b37f9b8_0_10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f58b37f9b8_0_1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eebb4d94f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eebb4d94f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Watch out when you enhance your image filter, it might become sentient.</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Econometrics application: </a:t>
            </a:r>
            <a:r>
              <a:rPr lang="nl" sz="1150">
                <a:solidFill>
                  <a:srgbClr val="006699"/>
                </a:solidFill>
                <a:highlight>
                  <a:srgbClr val="FFFFFF"/>
                </a:highlight>
                <a:uFill>
                  <a:noFill/>
                </a:uFill>
                <a:hlinkClick r:id="rId2">
                  <a:extLst>
                    <a:ext uri="{A12FA001-AC4F-418D-AE19-62706E023703}">
                      <ahyp:hlinkClr val="tx"/>
                    </a:ext>
                  </a:extLst>
                </a:hlinkClick>
              </a:rPr>
              <a:t>10.1109/CBI.2017.23</a:t>
            </a:r>
            <a:r>
              <a:rPr lang="nl"/>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ef19fba33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ef19fba33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I stole your slide :P. Might be a smoother transition so soon after the lateral inhibition story, before we dive into the techy details of convolutional neural networks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f3225d553e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f3225d553e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f3225d553e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f3225d553e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f3225d553e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f3225d553e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f3225d553e_1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f3225d553e_1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f3225d553e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f3225d553e_1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f3225d553e_1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f3225d553e_1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ef19fba33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ef19fba33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Just an idea: create a little awareness of how this works in our brains. Reason why I picked this image is because it is highly likely that nobody has a grandmother cell for this creation, so we’re all kinda stuck in the middle. (There’d be no point in picking a picture of Tom Cruise because everyone will recognize his face before we can even start talking). Anyways, according to the CNN idea your brains are processing this image a bit in the following way:</a:t>
            </a:r>
            <a:endParaRPr/>
          </a:p>
          <a:p>
            <a:pPr indent="-298450" lvl="0" marL="457200" rtl="0" algn="l">
              <a:spcBef>
                <a:spcPts val="0"/>
              </a:spcBef>
              <a:spcAft>
                <a:spcPts val="0"/>
              </a:spcAft>
              <a:buSzPts val="1100"/>
              <a:buChar char="-"/>
            </a:pPr>
            <a:r>
              <a:rPr lang="nl"/>
              <a:t>We already see lines, colours and shapes, without even being aware of it. </a:t>
            </a:r>
            <a:endParaRPr/>
          </a:p>
          <a:p>
            <a:pPr indent="-298450" lvl="0" marL="457200" rtl="0" algn="l">
              <a:spcBef>
                <a:spcPts val="0"/>
              </a:spcBef>
              <a:spcAft>
                <a:spcPts val="0"/>
              </a:spcAft>
              <a:buSzPts val="1100"/>
              <a:buChar char="-"/>
            </a:pPr>
            <a:r>
              <a:rPr lang="nl"/>
              <a:t>From the coloured shapes that we recognize, we can derive some basic structure elements. For instance we recognize a wheel, a rainbow, a cloud and an antenna of some sorts</a:t>
            </a:r>
            <a:endParaRPr/>
          </a:p>
          <a:p>
            <a:pPr indent="-298450" lvl="0" marL="457200" rtl="0" algn="l">
              <a:spcBef>
                <a:spcPts val="0"/>
              </a:spcBef>
              <a:spcAft>
                <a:spcPts val="0"/>
              </a:spcAft>
              <a:buSzPts val="1100"/>
              <a:buChar char="-"/>
            </a:pPr>
            <a:r>
              <a:rPr lang="nl"/>
              <a:t>But this is the point where we’re stuck. We can try to obtain more information on what its functions at least are. For instance there appears to be a rudder at the back of the rainbows and it seems to have some structure elements.</a:t>
            </a:r>
            <a:endParaRPr/>
          </a:p>
          <a:p>
            <a:pPr indent="-298450" lvl="0" marL="457200" rtl="0" algn="l">
              <a:spcBef>
                <a:spcPts val="0"/>
              </a:spcBef>
              <a:spcAft>
                <a:spcPts val="0"/>
              </a:spcAft>
              <a:buSzPts val="1100"/>
              <a:buChar char="-"/>
            </a:pPr>
            <a:r>
              <a:rPr lang="nl"/>
              <a:t>The point is, we cannot really proceed in analyzing this thing because it’s simply too alien. But if your brain recognized it - say you grew up in a world where these things exist - it would have been trained to call it by its name as quickly as you and I can call a car a car. </a:t>
            </a:r>
            <a:endParaRPr/>
          </a:p>
          <a:p>
            <a:pPr indent="-298450" lvl="0" marL="457200" rtl="0" algn="l">
              <a:spcBef>
                <a:spcPts val="0"/>
              </a:spcBef>
              <a:spcAft>
                <a:spcPts val="0"/>
              </a:spcAft>
              <a:buSzPts val="1100"/>
              <a:buChar char="-"/>
            </a:pPr>
            <a:r>
              <a:rPr lang="nl"/>
              <a:t>And essentially, any convolutional network does this. It takes small features from vision, combines elements step by step until it can be categorized, and will learn to categorize objects in more or less detail the more or less often it observes this object - or anything like it.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sche afbeelding met bijschrift">
  <p:cSld name="Panoramische afbeelding met bijschrift">
    <p:spTree>
      <p:nvGrpSpPr>
        <p:cNvPr id="55" name="Shape 55"/>
        <p:cNvGrpSpPr/>
        <p:nvPr/>
      </p:nvGrpSpPr>
      <p:grpSpPr>
        <a:xfrm>
          <a:off x="0" y="0"/>
          <a:ext cx="0" cy="0"/>
          <a:chOff x="0" y="0"/>
          <a:chExt cx="0" cy="0"/>
        </a:xfrm>
      </p:grpSpPr>
      <p:sp>
        <p:nvSpPr>
          <p:cNvPr id="56" name="Google Shape;56;p13"/>
          <p:cNvSpPr txBox="1"/>
          <p:nvPr>
            <p:ph type="title"/>
          </p:nvPr>
        </p:nvSpPr>
        <p:spPr>
          <a:xfrm>
            <a:off x="856057" y="3228498"/>
            <a:ext cx="7434300" cy="6144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lt1"/>
              </a:buClr>
              <a:buSzPts val="2400"/>
              <a:buFont typeface="Twentieth Century"/>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 name="Google Shape;57;p13"/>
          <p:cNvSpPr/>
          <p:nvPr>
            <p:ph idx="2" type="pic"/>
          </p:nvPr>
        </p:nvSpPr>
        <p:spPr>
          <a:xfrm>
            <a:off x="856058" y="454819"/>
            <a:ext cx="7434300" cy="2474700"/>
          </a:xfrm>
          <a:prstGeom prst="round2DiagRect">
            <a:avLst>
              <a:gd fmla="val 4860" name="adj1"/>
              <a:gd fmla="val 0" name="adj2"/>
            </a:avLst>
          </a:prstGeom>
          <a:noFill/>
          <a:ln cap="sq" cmpd="sng" w="19050">
            <a:solidFill>
              <a:srgbClr val="D1E9FB">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8" name="Google Shape;58;p13"/>
          <p:cNvSpPr txBox="1"/>
          <p:nvPr>
            <p:ph idx="1" type="body"/>
          </p:nvPr>
        </p:nvSpPr>
        <p:spPr>
          <a:xfrm>
            <a:off x="856023" y="3843015"/>
            <a:ext cx="7433100" cy="511800"/>
          </a:xfrm>
          <a:prstGeom prst="rect">
            <a:avLst/>
          </a:prstGeom>
          <a:noFill/>
          <a:ln>
            <a:noFill/>
          </a:ln>
        </p:spPr>
        <p:txBody>
          <a:bodyPr anchorCtr="0" anchor="t" bIns="34275" lIns="68575" spcFirstLastPara="1" rIns="68575" wrap="square" tIns="34275">
            <a:normAutofit/>
          </a:bodyPr>
          <a:lstStyle>
            <a:lvl1pPr indent="-228600" lvl="0" marL="457200" rtl="0" algn="l">
              <a:lnSpc>
                <a:spcPct val="120000"/>
              </a:lnSpc>
              <a:spcBef>
                <a:spcPts val="800"/>
              </a:spcBef>
              <a:spcAft>
                <a:spcPts val="0"/>
              </a:spcAft>
              <a:buClr>
                <a:schemeClr val="lt1"/>
              </a:buClr>
              <a:buSzPts val="1500"/>
              <a:buNone/>
              <a:defRPr sz="1200"/>
            </a:lvl1pPr>
            <a:lvl2pPr indent="-228600" lvl="1" marL="914400" rtl="0" algn="l">
              <a:lnSpc>
                <a:spcPct val="120000"/>
              </a:lnSpc>
              <a:spcBef>
                <a:spcPts val="1200"/>
              </a:spcBef>
              <a:spcAft>
                <a:spcPts val="0"/>
              </a:spcAft>
              <a:buClr>
                <a:schemeClr val="lt1"/>
              </a:buClr>
              <a:buSzPts val="1300"/>
              <a:buNone/>
              <a:defRPr sz="1100"/>
            </a:lvl2pPr>
            <a:lvl3pPr indent="-228600" lvl="2" marL="1371600" rtl="0" algn="l">
              <a:lnSpc>
                <a:spcPct val="120000"/>
              </a:lnSpc>
              <a:spcBef>
                <a:spcPts val="1200"/>
              </a:spcBef>
              <a:spcAft>
                <a:spcPts val="0"/>
              </a:spcAft>
              <a:buClr>
                <a:schemeClr val="lt1"/>
              </a:buClr>
              <a:buSzPts val="1100"/>
              <a:buNone/>
              <a:defRPr sz="900"/>
            </a:lvl3pPr>
            <a:lvl4pPr indent="-228600" lvl="3" marL="1828800" rtl="0" algn="l">
              <a:lnSpc>
                <a:spcPct val="120000"/>
              </a:lnSpc>
              <a:spcBef>
                <a:spcPts val="1200"/>
              </a:spcBef>
              <a:spcAft>
                <a:spcPts val="0"/>
              </a:spcAft>
              <a:buClr>
                <a:schemeClr val="lt1"/>
              </a:buClr>
              <a:buSzPts val="900"/>
              <a:buNone/>
              <a:defRPr sz="800"/>
            </a:lvl4pPr>
            <a:lvl5pPr indent="-228600" lvl="4" marL="2286000" rtl="0" algn="l">
              <a:lnSpc>
                <a:spcPct val="120000"/>
              </a:lnSpc>
              <a:spcBef>
                <a:spcPts val="1200"/>
              </a:spcBef>
              <a:spcAft>
                <a:spcPts val="0"/>
              </a:spcAft>
              <a:buClr>
                <a:schemeClr val="lt1"/>
              </a:buClr>
              <a:buSzPts val="900"/>
              <a:buNone/>
              <a:defRPr sz="800"/>
            </a:lvl5pPr>
            <a:lvl6pPr indent="-228600" lvl="5" marL="2743200" rtl="0" algn="l">
              <a:lnSpc>
                <a:spcPct val="120000"/>
              </a:lnSpc>
              <a:spcBef>
                <a:spcPts val="1200"/>
              </a:spcBef>
              <a:spcAft>
                <a:spcPts val="0"/>
              </a:spcAft>
              <a:buClr>
                <a:schemeClr val="lt1"/>
              </a:buClr>
              <a:buSzPts val="900"/>
              <a:buNone/>
              <a:defRPr sz="800"/>
            </a:lvl6pPr>
            <a:lvl7pPr indent="-228600" lvl="6" marL="3200400" rtl="0" algn="l">
              <a:lnSpc>
                <a:spcPct val="120000"/>
              </a:lnSpc>
              <a:spcBef>
                <a:spcPts val="1200"/>
              </a:spcBef>
              <a:spcAft>
                <a:spcPts val="0"/>
              </a:spcAft>
              <a:buClr>
                <a:schemeClr val="lt1"/>
              </a:buClr>
              <a:buSzPts val="900"/>
              <a:buNone/>
              <a:defRPr sz="800"/>
            </a:lvl7pPr>
            <a:lvl8pPr indent="-228600" lvl="7" marL="3657600" rtl="0" algn="l">
              <a:lnSpc>
                <a:spcPct val="120000"/>
              </a:lnSpc>
              <a:spcBef>
                <a:spcPts val="1200"/>
              </a:spcBef>
              <a:spcAft>
                <a:spcPts val="0"/>
              </a:spcAft>
              <a:buClr>
                <a:schemeClr val="lt1"/>
              </a:buClr>
              <a:buSzPts val="900"/>
              <a:buNone/>
              <a:defRPr sz="800"/>
            </a:lvl8pPr>
            <a:lvl9pPr indent="-228600" lvl="8" marL="4114800" rtl="0" algn="l">
              <a:lnSpc>
                <a:spcPct val="120000"/>
              </a:lnSpc>
              <a:spcBef>
                <a:spcPts val="1200"/>
              </a:spcBef>
              <a:spcAft>
                <a:spcPts val="1200"/>
              </a:spcAft>
              <a:buClr>
                <a:schemeClr val="lt1"/>
              </a:buClr>
              <a:buSzPts val="900"/>
              <a:buNone/>
              <a:defRPr sz="800"/>
            </a:lvl9pPr>
          </a:lstStyle>
          <a:p/>
        </p:txBody>
      </p:sp>
      <p:sp>
        <p:nvSpPr>
          <p:cNvPr id="59" name="Google Shape;59;p13"/>
          <p:cNvSpPr txBox="1"/>
          <p:nvPr>
            <p:ph idx="10" type="dt"/>
          </p:nvPr>
        </p:nvSpPr>
        <p:spPr>
          <a:xfrm>
            <a:off x="5592691" y="4412457"/>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0" name="Google Shape;60;p13"/>
          <p:cNvSpPr txBox="1"/>
          <p:nvPr>
            <p:ph idx="11" type="ftr"/>
          </p:nvPr>
        </p:nvSpPr>
        <p:spPr>
          <a:xfrm>
            <a:off x="856058" y="4412456"/>
            <a:ext cx="46797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1" name="Google Shape;61;p13"/>
          <p:cNvSpPr txBox="1"/>
          <p:nvPr>
            <p:ph idx="12" type="sldNum"/>
          </p:nvPr>
        </p:nvSpPr>
        <p:spPr>
          <a:xfrm>
            <a:off x="7707241" y="4412455"/>
            <a:ext cx="578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62" name="Shape 62"/>
        <p:cNvGrpSpPr/>
        <p:nvPr/>
      </p:nvGrpSpPr>
      <p:grpSpPr>
        <a:xfrm>
          <a:off x="0" y="0"/>
          <a:ext cx="0" cy="0"/>
          <a:chOff x="0" y="0"/>
          <a:chExt cx="0" cy="0"/>
        </a:xfrm>
      </p:grpSpPr>
      <p:sp>
        <p:nvSpPr>
          <p:cNvPr id="63" name="Google Shape;63;p14"/>
          <p:cNvSpPr txBox="1"/>
          <p:nvPr>
            <p:ph type="title"/>
          </p:nvPr>
        </p:nvSpPr>
        <p:spPr>
          <a:xfrm>
            <a:off x="856060" y="463889"/>
            <a:ext cx="7429500" cy="11091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lt1"/>
              </a:buClr>
              <a:buSzPts val="1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 name="Google Shape;64;p14"/>
          <p:cNvSpPr txBox="1"/>
          <p:nvPr>
            <p:ph idx="1" type="body"/>
          </p:nvPr>
        </p:nvSpPr>
        <p:spPr>
          <a:xfrm>
            <a:off x="856059" y="1687115"/>
            <a:ext cx="7429500" cy="2656500"/>
          </a:xfrm>
          <a:prstGeom prst="rect">
            <a:avLst/>
          </a:prstGeom>
          <a:noFill/>
          <a:ln>
            <a:noFill/>
          </a:ln>
        </p:spPr>
        <p:txBody>
          <a:bodyPr anchorCtr="0" anchor="t" bIns="34275" lIns="68575" spcFirstLastPara="1" rIns="68575" wrap="square" tIns="34275">
            <a:normAutofit/>
          </a:bodyPr>
          <a:lstStyle>
            <a:lvl1pPr indent="-336550" lvl="0" marL="457200" rtl="0" algn="l">
              <a:lnSpc>
                <a:spcPct val="120000"/>
              </a:lnSpc>
              <a:spcBef>
                <a:spcPts val="800"/>
              </a:spcBef>
              <a:spcAft>
                <a:spcPts val="0"/>
              </a:spcAft>
              <a:buClr>
                <a:schemeClr val="lt1"/>
              </a:buClr>
              <a:buSzPts val="1700"/>
              <a:buChar char="●"/>
              <a:defRPr/>
            </a:lvl1pPr>
            <a:lvl2pPr indent="-336550" lvl="1" marL="914400" rtl="0" algn="l">
              <a:lnSpc>
                <a:spcPct val="120000"/>
              </a:lnSpc>
              <a:spcBef>
                <a:spcPts val="1200"/>
              </a:spcBef>
              <a:spcAft>
                <a:spcPts val="0"/>
              </a:spcAft>
              <a:buClr>
                <a:schemeClr val="lt1"/>
              </a:buClr>
              <a:buSzPts val="1700"/>
              <a:buChar char="○"/>
              <a:defRPr/>
            </a:lvl2pPr>
            <a:lvl3pPr indent="-336550" lvl="2" marL="1371600" rtl="0" algn="l">
              <a:lnSpc>
                <a:spcPct val="120000"/>
              </a:lnSpc>
              <a:spcBef>
                <a:spcPts val="1200"/>
              </a:spcBef>
              <a:spcAft>
                <a:spcPts val="0"/>
              </a:spcAft>
              <a:buClr>
                <a:schemeClr val="lt1"/>
              </a:buClr>
              <a:buSzPts val="1700"/>
              <a:buChar char="■"/>
              <a:defRPr/>
            </a:lvl3pPr>
            <a:lvl4pPr indent="-336550" lvl="3" marL="1828800" rtl="0" algn="l">
              <a:lnSpc>
                <a:spcPct val="120000"/>
              </a:lnSpc>
              <a:spcBef>
                <a:spcPts val="1200"/>
              </a:spcBef>
              <a:spcAft>
                <a:spcPts val="0"/>
              </a:spcAft>
              <a:buClr>
                <a:schemeClr val="lt1"/>
              </a:buClr>
              <a:buSzPts val="1700"/>
              <a:buChar char="●"/>
              <a:defRPr/>
            </a:lvl4pPr>
            <a:lvl5pPr indent="-336550" lvl="4" marL="2286000" rtl="0" algn="l">
              <a:lnSpc>
                <a:spcPct val="120000"/>
              </a:lnSpc>
              <a:spcBef>
                <a:spcPts val="1200"/>
              </a:spcBef>
              <a:spcAft>
                <a:spcPts val="0"/>
              </a:spcAft>
              <a:buClr>
                <a:schemeClr val="lt1"/>
              </a:buClr>
              <a:buSzPts val="1700"/>
              <a:buChar char="○"/>
              <a:defRPr/>
            </a:lvl5pPr>
            <a:lvl6pPr indent="-336550" lvl="5" marL="2743200" rtl="0" algn="l">
              <a:lnSpc>
                <a:spcPct val="120000"/>
              </a:lnSpc>
              <a:spcBef>
                <a:spcPts val="1200"/>
              </a:spcBef>
              <a:spcAft>
                <a:spcPts val="0"/>
              </a:spcAft>
              <a:buClr>
                <a:schemeClr val="lt1"/>
              </a:buClr>
              <a:buSzPts val="1700"/>
              <a:buChar char="■"/>
              <a:defRPr/>
            </a:lvl6pPr>
            <a:lvl7pPr indent="-336550" lvl="6" marL="3200400" rtl="0" algn="l">
              <a:lnSpc>
                <a:spcPct val="120000"/>
              </a:lnSpc>
              <a:spcBef>
                <a:spcPts val="1200"/>
              </a:spcBef>
              <a:spcAft>
                <a:spcPts val="0"/>
              </a:spcAft>
              <a:buClr>
                <a:schemeClr val="lt1"/>
              </a:buClr>
              <a:buSzPts val="1700"/>
              <a:buChar char="●"/>
              <a:defRPr/>
            </a:lvl7pPr>
            <a:lvl8pPr indent="-336550" lvl="7" marL="3657600" rtl="0" algn="l">
              <a:lnSpc>
                <a:spcPct val="120000"/>
              </a:lnSpc>
              <a:spcBef>
                <a:spcPts val="1200"/>
              </a:spcBef>
              <a:spcAft>
                <a:spcPts val="0"/>
              </a:spcAft>
              <a:buClr>
                <a:schemeClr val="lt1"/>
              </a:buClr>
              <a:buSzPts val="1700"/>
              <a:buChar char="○"/>
              <a:defRPr/>
            </a:lvl8pPr>
            <a:lvl9pPr indent="-336550" lvl="8" marL="4114800" rtl="0" algn="l">
              <a:lnSpc>
                <a:spcPct val="120000"/>
              </a:lnSpc>
              <a:spcBef>
                <a:spcPts val="1200"/>
              </a:spcBef>
              <a:spcAft>
                <a:spcPts val="1200"/>
              </a:spcAft>
              <a:buClr>
                <a:schemeClr val="lt1"/>
              </a:buClr>
              <a:buSzPts val="1700"/>
              <a:buChar char="■"/>
              <a:defRPr/>
            </a:lvl9pPr>
          </a:lstStyle>
          <a:p/>
        </p:txBody>
      </p:sp>
      <p:sp>
        <p:nvSpPr>
          <p:cNvPr id="65" name="Google Shape;65;p14"/>
          <p:cNvSpPr txBox="1"/>
          <p:nvPr>
            <p:ph idx="10" type="dt"/>
          </p:nvPr>
        </p:nvSpPr>
        <p:spPr>
          <a:xfrm>
            <a:off x="5592691" y="4412457"/>
            <a:ext cx="20574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p14"/>
          <p:cNvSpPr txBox="1"/>
          <p:nvPr>
            <p:ph idx="11" type="ftr"/>
          </p:nvPr>
        </p:nvSpPr>
        <p:spPr>
          <a:xfrm>
            <a:off x="856058" y="4412456"/>
            <a:ext cx="46797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p14"/>
          <p:cNvSpPr txBox="1"/>
          <p:nvPr>
            <p:ph idx="12" type="sldNum"/>
          </p:nvPr>
        </p:nvSpPr>
        <p:spPr>
          <a:xfrm>
            <a:off x="7707241" y="4412455"/>
            <a:ext cx="578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0.jp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23.png"/><Relationship Id="rId8"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1.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a:t>Convolutional Neural Networks</a:t>
            </a:r>
            <a:endParaRPr/>
          </a:p>
        </p:txBody>
      </p:sp>
      <p:sp>
        <p:nvSpPr>
          <p:cNvPr id="73" name="Google Shape;73;p15"/>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Contents</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Image processing in a nutshell</a:t>
            </a:r>
            <a:endParaRPr/>
          </a:p>
          <a:p>
            <a:pPr indent="-342900" lvl="0" marL="457200" rtl="0" algn="l">
              <a:spcBef>
                <a:spcPts val="0"/>
              </a:spcBef>
              <a:spcAft>
                <a:spcPts val="0"/>
              </a:spcAft>
              <a:buSzPts val="1800"/>
              <a:buChar char="●"/>
            </a:pPr>
            <a:r>
              <a:rPr lang="nl"/>
              <a:t>Example: lateral inhibition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nl"/>
              <a:t>Convolutional Neural Networks</a:t>
            </a:r>
            <a:endParaRPr/>
          </a:p>
          <a:p>
            <a:pPr indent="-342900" lvl="0" marL="457200" rtl="0" algn="l">
              <a:spcBef>
                <a:spcPts val="0"/>
              </a:spcBef>
              <a:spcAft>
                <a:spcPts val="0"/>
              </a:spcAft>
              <a:buSzPts val="1800"/>
              <a:buChar char="●"/>
            </a:pPr>
            <a:r>
              <a:rPr lang="nl"/>
              <a:t>The neocognitron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5964975" y="2930675"/>
            <a:ext cx="2938200" cy="1850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a:off x="6423825" y="945375"/>
            <a:ext cx="2309100" cy="16266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Images in computers</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Matrix of integer values</a:t>
            </a:r>
            <a:endParaRPr/>
          </a:p>
          <a:p>
            <a:pPr indent="-317500" lvl="1" marL="914400" rtl="0" algn="l">
              <a:spcBef>
                <a:spcPts val="0"/>
              </a:spcBef>
              <a:spcAft>
                <a:spcPts val="0"/>
              </a:spcAft>
              <a:buSzPts val="1400"/>
              <a:buChar char="○"/>
            </a:pPr>
            <a:r>
              <a:rPr lang="nl"/>
              <a:t>Value ~ pixel brightness</a:t>
            </a:r>
            <a:endParaRPr/>
          </a:p>
          <a:p>
            <a:pPr indent="-317500" lvl="1" marL="914400" rtl="0" algn="l">
              <a:spcBef>
                <a:spcPts val="0"/>
              </a:spcBef>
              <a:spcAft>
                <a:spcPts val="0"/>
              </a:spcAft>
              <a:buSzPts val="1400"/>
              <a:buChar char="○"/>
            </a:pPr>
            <a:r>
              <a:rPr lang="nl"/>
              <a:t>Range: [0, 255]</a:t>
            </a:r>
            <a:endParaRPr/>
          </a:p>
          <a:p>
            <a:pPr indent="-342900" lvl="0" marL="457200" rtl="0" algn="l">
              <a:spcBef>
                <a:spcPts val="0"/>
              </a:spcBef>
              <a:spcAft>
                <a:spcPts val="0"/>
              </a:spcAft>
              <a:buSzPts val="1800"/>
              <a:buChar char="●"/>
            </a:pPr>
            <a:r>
              <a:rPr lang="nl"/>
              <a:t>Color</a:t>
            </a:r>
            <a:endParaRPr/>
          </a:p>
          <a:p>
            <a:pPr indent="-317500" lvl="1" marL="914400" rtl="0" algn="l">
              <a:spcBef>
                <a:spcPts val="0"/>
              </a:spcBef>
              <a:spcAft>
                <a:spcPts val="0"/>
              </a:spcAft>
              <a:buSzPts val="1400"/>
              <a:buChar char="○"/>
            </a:pPr>
            <a:r>
              <a:rPr lang="nl"/>
              <a:t>Grayscale</a:t>
            </a:r>
            <a:endParaRPr/>
          </a:p>
          <a:p>
            <a:pPr indent="-317500" lvl="1" marL="914400" rtl="0" algn="l">
              <a:spcBef>
                <a:spcPts val="0"/>
              </a:spcBef>
              <a:spcAft>
                <a:spcPts val="0"/>
              </a:spcAft>
              <a:buSzPts val="1400"/>
              <a:buChar char="○"/>
            </a:pPr>
            <a:r>
              <a:rPr lang="nl"/>
              <a:t>Color triplet [R, G, B]</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nl"/>
              <a:t>As a function f(x,y):</a:t>
            </a:r>
            <a:endParaRPr/>
          </a:p>
          <a:p>
            <a:pPr indent="-317500" lvl="1" marL="914400" rtl="0" algn="l">
              <a:spcBef>
                <a:spcPts val="0"/>
              </a:spcBef>
              <a:spcAft>
                <a:spcPts val="0"/>
              </a:spcAft>
              <a:buSzPts val="1400"/>
              <a:buChar char="○"/>
            </a:pPr>
            <a:r>
              <a:rPr lang="nl"/>
              <a:t>f(x,y) is the pixel brightness at position (x,y)</a:t>
            </a:r>
            <a:endParaRPr/>
          </a:p>
          <a:p>
            <a:pPr indent="0" lvl="0" marL="0" rtl="0" algn="l">
              <a:spcBef>
                <a:spcPts val="1200"/>
              </a:spcBef>
              <a:spcAft>
                <a:spcPts val="1200"/>
              </a:spcAft>
              <a:buNone/>
            </a:pPr>
            <a:r>
              <a:t/>
            </a:r>
            <a:endParaRPr/>
          </a:p>
        </p:txBody>
      </p:sp>
      <p:pic>
        <p:nvPicPr>
          <p:cNvPr id="88" name="Google Shape;88;p17"/>
          <p:cNvPicPr preferRelativeResize="0"/>
          <p:nvPr/>
        </p:nvPicPr>
        <p:blipFill>
          <a:blip r:embed="rId3">
            <a:alphaModFix/>
          </a:blip>
          <a:stretch>
            <a:fillRect/>
          </a:stretch>
        </p:blipFill>
        <p:spPr>
          <a:xfrm>
            <a:off x="6523075" y="1017721"/>
            <a:ext cx="2061025" cy="1494600"/>
          </a:xfrm>
          <a:prstGeom prst="rect">
            <a:avLst/>
          </a:prstGeom>
          <a:noFill/>
          <a:ln>
            <a:noFill/>
          </a:ln>
        </p:spPr>
      </p:pic>
      <p:pic>
        <p:nvPicPr>
          <p:cNvPr id="89" name="Google Shape;89;p17"/>
          <p:cNvPicPr preferRelativeResize="0"/>
          <p:nvPr/>
        </p:nvPicPr>
        <p:blipFill>
          <a:blip r:embed="rId4">
            <a:alphaModFix/>
          </a:blip>
          <a:stretch>
            <a:fillRect/>
          </a:stretch>
        </p:blipFill>
        <p:spPr>
          <a:xfrm>
            <a:off x="6045600" y="3034300"/>
            <a:ext cx="2789525" cy="1626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8"/>
          <p:cNvSpPr/>
          <p:nvPr/>
        </p:nvSpPr>
        <p:spPr>
          <a:xfrm>
            <a:off x="4796700" y="3552350"/>
            <a:ext cx="3075600" cy="9402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i="1"/>
          </a:p>
        </p:txBody>
      </p:sp>
      <p:sp>
        <p:nvSpPr>
          <p:cNvPr id="95" name="Google Shape;95;p18"/>
          <p:cNvSpPr/>
          <p:nvPr/>
        </p:nvSpPr>
        <p:spPr>
          <a:xfrm>
            <a:off x="791875" y="3190250"/>
            <a:ext cx="2425800" cy="1676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Image filtering</a:t>
            </a:r>
            <a:endParaRPr/>
          </a:p>
        </p:txBody>
      </p:sp>
      <p:sp>
        <p:nvSpPr>
          <p:cNvPr id="97" name="Google Shape;9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Create a new image </a:t>
            </a:r>
            <a:r>
              <a:rPr i="1" lang="nl"/>
              <a:t>G </a:t>
            </a:r>
            <a:r>
              <a:rPr lang="nl"/>
              <a:t>from image </a:t>
            </a:r>
            <a:r>
              <a:rPr i="1" lang="nl"/>
              <a:t>F </a:t>
            </a:r>
            <a:r>
              <a:rPr lang="nl"/>
              <a:t>using filter </a:t>
            </a:r>
            <a:r>
              <a:rPr i="1" lang="nl"/>
              <a:t>H</a:t>
            </a:r>
            <a:endParaRPr i="1"/>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nl"/>
              <a:t>Filtering is accomplished by doing a </a:t>
            </a:r>
            <a:r>
              <a:rPr lang="nl" u="sng"/>
              <a:t>convolution</a:t>
            </a:r>
            <a:r>
              <a:rPr lang="nl"/>
              <a:t> between a convolution matrix   (kernel) </a:t>
            </a:r>
            <a:r>
              <a:rPr i="1" lang="nl"/>
              <a:t>h </a:t>
            </a:r>
            <a:r>
              <a:rPr lang="nl"/>
              <a:t>and the input image </a:t>
            </a:r>
            <a:r>
              <a:rPr i="1" lang="nl"/>
              <a:t>F</a:t>
            </a:r>
            <a:endParaRPr i="1"/>
          </a:p>
        </p:txBody>
      </p:sp>
      <p:pic>
        <p:nvPicPr>
          <p:cNvPr id="98" name="Google Shape;98;p18"/>
          <p:cNvPicPr preferRelativeResize="0"/>
          <p:nvPr/>
        </p:nvPicPr>
        <p:blipFill>
          <a:blip r:embed="rId3">
            <a:alphaModFix/>
          </a:blip>
          <a:stretch>
            <a:fillRect/>
          </a:stretch>
        </p:blipFill>
        <p:spPr>
          <a:xfrm>
            <a:off x="1053475" y="3190250"/>
            <a:ext cx="1866900" cy="1676400"/>
          </a:xfrm>
          <a:prstGeom prst="rect">
            <a:avLst/>
          </a:prstGeom>
          <a:noFill/>
          <a:ln>
            <a:noFill/>
          </a:ln>
        </p:spPr>
      </p:pic>
      <p:pic>
        <p:nvPicPr>
          <p:cNvPr id="99" name="Google Shape;99;p18"/>
          <p:cNvPicPr preferRelativeResize="0"/>
          <p:nvPr/>
        </p:nvPicPr>
        <p:blipFill>
          <a:blip r:embed="rId4">
            <a:alphaModFix/>
          </a:blip>
          <a:stretch>
            <a:fillRect/>
          </a:stretch>
        </p:blipFill>
        <p:spPr>
          <a:xfrm>
            <a:off x="4872900" y="3628400"/>
            <a:ext cx="2933700" cy="800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p:nvPr/>
        </p:nvSpPr>
        <p:spPr>
          <a:xfrm>
            <a:off x="-88800" y="-81400"/>
            <a:ext cx="1707900" cy="14430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19"/>
          <p:cNvSpPr/>
          <p:nvPr/>
        </p:nvSpPr>
        <p:spPr>
          <a:xfrm>
            <a:off x="814075" y="664150"/>
            <a:ext cx="7518900" cy="4220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9"/>
          <p:cNvPicPr preferRelativeResize="0"/>
          <p:nvPr/>
        </p:nvPicPr>
        <p:blipFill rotWithShape="1">
          <a:blip r:embed="rId3">
            <a:alphaModFix/>
          </a:blip>
          <a:srcRect b="7340" l="478" r="0" t="15398"/>
          <a:stretch/>
        </p:blipFill>
        <p:spPr>
          <a:xfrm>
            <a:off x="1160450" y="791875"/>
            <a:ext cx="6823100" cy="3974201"/>
          </a:xfrm>
          <a:prstGeom prst="rect">
            <a:avLst/>
          </a:prstGeom>
          <a:noFill/>
          <a:ln>
            <a:noFill/>
          </a:ln>
        </p:spPr>
      </p:pic>
      <p:pic>
        <p:nvPicPr>
          <p:cNvPr id="108" name="Google Shape;108;p19"/>
          <p:cNvPicPr preferRelativeResize="0"/>
          <p:nvPr/>
        </p:nvPicPr>
        <p:blipFill>
          <a:blip r:embed="rId4">
            <a:alphaModFix/>
          </a:blip>
          <a:stretch>
            <a:fillRect/>
          </a:stretch>
        </p:blipFill>
        <p:spPr>
          <a:xfrm>
            <a:off x="32175" y="0"/>
            <a:ext cx="1455375" cy="1306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p:nvPr/>
        </p:nvSpPr>
        <p:spPr>
          <a:xfrm>
            <a:off x="814075" y="664150"/>
            <a:ext cx="7518900" cy="4220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5" name="Google Shape;11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6" name="Google Shape;116;p20"/>
          <p:cNvPicPr preferRelativeResize="0"/>
          <p:nvPr/>
        </p:nvPicPr>
        <p:blipFill rotWithShape="1">
          <a:blip r:embed="rId3">
            <a:alphaModFix/>
          </a:blip>
          <a:srcRect b="7487" l="0" r="0" t="15251"/>
          <a:stretch/>
        </p:blipFill>
        <p:spPr>
          <a:xfrm>
            <a:off x="1150700" y="784475"/>
            <a:ext cx="6842599" cy="3974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p:nvPr/>
        </p:nvSpPr>
        <p:spPr>
          <a:xfrm>
            <a:off x="814075" y="562450"/>
            <a:ext cx="7518900" cy="4322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 name="Google Shape;122;p21"/>
          <p:cNvPicPr preferRelativeResize="0"/>
          <p:nvPr/>
        </p:nvPicPr>
        <p:blipFill rotWithShape="1">
          <a:blip r:embed="rId3">
            <a:alphaModFix/>
          </a:blip>
          <a:srcRect b="7771" l="0" r="0" t="13810"/>
          <a:stretch/>
        </p:blipFill>
        <p:spPr>
          <a:xfrm>
            <a:off x="1148975" y="710475"/>
            <a:ext cx="6846050" cy="4033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p:nvPr/>
        </p:nvSpPr>
        <p:spPr>
          <a:xfrm>
            <a:off x="814075" y="664150"/>
            <a:ext cx="7518900" cy="4220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9" name="Google Shape;12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0" name="Google Shape;130;p22"/>
          <p:cNvPicPr preferRelativeResize="0"/>
          <p:nvPr/>
        </p:nvPicPr>
        <p:blipFill rotWithShape="1">
          <a:blip r:embed="rId3">
            <a:alphaModFix/>
          </a:blip>
          <a:srcRect b="7342" l="675" r="0" t="14964"/>
          <a:stretch/>
        </p:blipFill>
        <p:spPr>
          <a:xfrm>
            <a:off x="1184125" y="769675"/>
            <a:ext cx="6822000" cy="3996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p:nvPr/>
        </p:nvSpPr>
        <p:spPr>
          <a:xfrm>
            <a:off x="814075" y="664150"/>
            <a:ext cx="7518900" cy="4220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7" name="Google Shape;13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3"/>
          <p:cNvPicPr preferRelativeResize="0"/>
          <p:nvPr/>
        </p:nvPicPr>
        <p:blipFill rotWithShape="1">
          <a:blip r:embed="rId3">
            <a:alphaModFix/>
          </a:blip>
          <a:srcRect b="7634" l="0" r="0" t="16257"/>
          <a:stretch/>
        </p:blipFill>
        <p:spPr>
          <a:xfrm>
            <a:off x="1148975" y="836275"/>
            <a:ext cx="6846050" cy="3914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p:nvPr/>
        </p:nvSpPr>
        <p:spPr>
          <a:xfrm>
            <a:off x="3572925" y="2482250"/>
            <a:ext cx="2002800" cy="18189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4"/>
          <p:cNvSpPr/>
          <p:nvPr/>
        </p:nvSpPr>
        <p:spPr>
          <a:xfrm>
            <a:off x="488450" y="1842775"/>
            <a:ext cx="2686500" cy="28788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Summary</a:t>
            </a:r>
            <a:endParaRPr/>
          </a:p>
        </p:txBody>
      </p:sp>
      <p:pic>
        <p:nvPicPr>
          <p:cNvPr id="146" name="Google Shape;146;p24"/>
          <p:cNvPicPr preferRelativeResize="0"/>
          <p:nvPr/>
        </p:nvPicPr>
        <p:blipFill>
          <a:blip r:embed="rId3">
            <a:alphaModFix/>
          </a:blip>
          <a:stretch>
            <a:fillRect/>
          </a:stretch>
        </p:blipFill>
        <p:spPr>
          <a:xfrm>
            <a:off x="3658875" y="2571750"/>
            <a:ext cx="1826250" cy="1639925"/>
          </a:xfrm>
          <a:prstGeom prst="rect">
            <a:avLst/>
          </a:prstGeom>
          <a:noFill/>
          <a:ln>
            <a:noFill/>
          </a:ln>
        </p:spPr>
      </p:pic>
      <p:pic>
        <p:nvPicPr>
          <p:cNvPr id="147" name="Google Shape;147;p24"/>
          <p:cNvPicPr preferRelativeResize="0"/>
          <p:nvPr/>
        </p:nvPicPr>
        <p:blipFill>
          <a:blip r:embed="rId4">
            <a:alphaModFix/>
          </a:blip>
          <a:stretch>
            <a:fillRect/>
          </a:stretch>
        </p:blipFill>
        <p:spPr>
          <a:xfrm>
            <a:off x="657200" y="1953975"/>
            <a:ext cx="2362200" cy="2647950"/>
          </a:xfrm>
          <a:prstGeom prst="rect">
            <a:avLst/>
          </a:prstGeom>
          <a:noFill/>
          <a:ln>
            <a:noFill/>
          </a:ln>
        </p:spPr>
      </p:pic>
      <p:sp>
        <p:nvSpPr>
          <p:cNvPr id="148" name="Google Shape;148;p24"/>
          <p:cNvSpPr/>
          <p:nvPr/>
        </p:nvSpPr>
        <p:spPr>
          <a:xfrm>
            <a:off x="3019400" y="779250"/>
            <a:ext cx="3105300" cy="1061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4"/>
          <p:cNvSpPr/>
          <p:nvPr/>
        </p:nvSpPr>
        <p:spPr>
          <a:xfrm>
            <a:off x="6038850" y="1764225"/>
            <a:ext cx="2508900" cy="2957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 name="Google Shape;150;p24"/>
          <p:cNvPicPr preferRelativeResize="0"/>
          <p:nvPr/>
        </p:nvPicPr>
        <p:blipFill>
          <a:blip r:embed="rId5">
            <a:alphaModFix/>
          </a:blip>
          <a:stretch>
            <a:fillRect/>
          </a:stretch>
        </p:blipFill>
        <p:spPr>
          <a:xfrm>
            <a:off x="6124600" y="1953975"/>
            <a:ext cx="2324100" cy="2581275"/>
          </a:xfrm>
          <a:prstGeom prst="rect">
            <a:avLst/>
          </a:prstGeom>
          <a:noFill/>
          <a:ln>
            <a:noFill/>
          </a:ln>
        </p:spPr>
      </p:pic>
      <p:pic>
        <p:nvPicPr>
          <p:cNvPr id="151" name="Google Shape;151;p24"/>
          <p:cNvPicPr preferRelativeResize="0"/>
          <p:nvPr/>
        </p:nvPicPr>
        <p:blipFill>
          <a:blip r:embed="rId6">
            <a:alphaModFix/>
          </a:blip>
          <a:stretch>
            <a:fillRect/>
          </a:stretch>
        </p:blipFill>
        <p:spPr>
          <a:xfrm>
            <a:off x="3105150" y="964125"/>
            <a:ext cx="2933700" cy="80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5" name="Shape 155"/>
        <p:cNvGrpSpPr/>
        <p:nvPr/>
      </p:nvGrpSpPr>
      <p:grpSpPr>
        <a:xfrm>
          <a:off x="0" y="0"/>
          <a:ext cx="0" cy="0"/>
          <a:chOff x="0" y="0"/>
          <a:chExt cx="0" cy="0"/>
        </a:xfrm>
      </p:grpSpPr>
      <p:sp>
        <p:nvSpPr>
          <p:cNvPr id="156" name="Google Shape;156;p25"/>
          <p:cNvSpPr txBox="1"/>
          <p:nvPr>
            <p:ph type="title"/>
          </p:nvPr>
        </p:nvSpPr>
        <p:spPr>
          <a:xfrm>
            <a:off x="2251357" y="2017189"/>
            <a:ext cx="4641300" cy="11091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Twentieth Century"/>
              <a:buNone/>
            </a:pPr>
            <a:r>
              <a:rPr lang="nl">
                <a:solidFill>
                  <a:schemeClr val="dk1"/>
                </a:solidFill>
              </a:rPr>
              <a:t>Example: lateral inhibition</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60" name="Shape 160"/>
        <p:cNvGrpSpPr/>
        <p:nvPr/>
      </p:nvGrpSpPr>
      <p:grpSpPr>
        <a:xfrm>
          <a:off x="0" y="0"/>
          <a:ext cx="0" cy="0"/>
          <a:chOff x="0" y="0"/>
          <a:chExt cx="0" cy="0"/>
        </a:xfrm>
      </p:grpSpPr>
      <p:sp>
        <p:nvSpPr>
          <p:cNvPr id="161" name="Google Shape;161;p26"/>
          <p:cNvSpPr/>
          <p:nvPr/>
        </p:nvSpPr>
        <p:spPr>
          <a:xfrm>
            <a:off x="725275" y="1435750"/>
            <a:ext cx="2634600" cy="22647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6"/>
          <p:cNvSpPr txBox="1"/>
          <p:nvPr>
            <p:ph type="title"/>
          </p:nvPr>
        </p:nvSpPr>
        <p:spPr>
          <a:xfrm>
            <a:off x="3846482" y="463889"/>
            <a:ext cx="46413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sz="2700">
                <a:solidFill>
                  <a:schemeClr val="dk1"/>
                </a:solidFill>
              </a:rPr>
              <a:t>HERMANN GRID</a:t>
            </a:r>
            <a:endParaRPr>
              <a:solidFill>
                <a:schemeClr val="dk1"/>
              </a:solidFill>
            </a:endParaRPr>
          </a:p>
        </p:txBody>
      </p:sp>
      <p:pic>
        <p:nvPicPr>
          <p:cNvPr descr="Hermann Grid - The Illusions Index" id="163" name="Google Shape;163;p26"/>
          <p:cNvPicPr preferRelativeResize="0"/>
          <p:nvPr/>
        </p:nvPicPr>
        <p:blipFill rotWithShape="1">
          <a:blip r:embed="rId3">
            <a:alphaModFix/>
          </a:blip>
          <a:srcRect b="0" l="0" r="0" t="0"/>
          <a:stretch/>
        </p:blipFill>
        <p:spPr>
          <a:xfrm>
            <a:off x="844963" y="1557090"/>
            <a:ext cx="2383978" cy="2025224"/>
          </a:xfrm>
          <a:prstGeom prst="rect">
            <a:avLst/>
          </a:prstGeom>
          <a:noFill/>
          <a:ln>
            <a:noFill/>
          </a:ln>
        </p:spPr>
      </p:pic>
      <p:sp>
        <p:nvSpPr>
          <p:cNvPr id="164" name="Google Shape;164;p26"/>
          <p:cNvSpPr txBox="1"/>
          <p:nvPr>
            <p:ph idx="1" type="body"/>
          </p:nvPr>
        </p:nvSpPr>
        <p:spPr>
          <a:xfrm>
            <a:off x="3846482" y="1387079"/>
            <a:ext cx="4877400" cy="2956200"/>
          </a:xfrm>
          <a:prstGeom prst="rect">
            <a:avLst/>
          </a:prstGeom>
          <a:noFill/>
          <a:ln>
            <a:noFill/>
          </a:ln>
        </p:spPr>
        <p:txBody>
          <a:bodyPr anchorCtr="0" anchor="t" bIns="34275" lIns="68575" spcFirstLastPara="1" rIns="68575" wrap="square" tIns="34275">
            <a:normAutofit/>
          </a:bodyPr>
          <a:lstStyle/>
          <a:p>
            <a:pPr indent="-6350" lvl="0" marL="0" rtl="0" algn="l">
              <a:lnSpc>
                <a:spcPct val="120000"/>
              </a:lnSpc>
              <a:spcBef>
                <a:spcPts val="0"/>
              </a:spcBef>
              <a:spcAft>
                <a:spcPts val="0"/>
              </a:spcAft>
              <a:buClr>
                <a:schemeClr val="dk1"/>
              </a:buClr>
              <a:buSzPts val="1900"/>
              <a:buFont typeface="Arial"/>
              <a:buChar char="•"/>
            </a:pPr>
            <a:r>
              <a:rPr b="1" lang="nl" sz="1500">
                <a:solidFill>
                  <a:schemeClr val="dk1"/>
                </a:solidFill>
              </a:rPr>
              <a:t>Hermann Ludimar </a:t>
            </a:r>
            <a:r>
              <a:rPr lang="nl" sz="1500">
                <a:solidFill>
                  <a:schemeClr val="dk1"/>
                </a:solidFill>
              </a:rPr>
              <a:t>(1870)</a:t>
            </a:r>
            <a:endParaRPr>
              <a:solidFill>
                <a:schemeClr val="dk1"/>
              </a:solidFill>
            </a:endParaRPr>
          </a:p>
          <a:p>
            <a:pPr indent="-6350" lvl="0" marL="0" rtl="0" algn="l">
              <a:lnSpc>
                <a:spcPct val="120000"/>
              </a:lnSpc>
              <a:spcBef>
                <a:spcPts val="800"/>
              </a:spcBef>
              <a:spcAft>
                <a:spcPts val="0"/>
              </a:spcAft>
              <a:buClr>
                <a:schemeClr val="dk1"/>
              </a:buClr>
              <a:buSzPts val="1900"/>
              <a:buFont typeface="Arial"/>
              <a:buChar char="•"/>
            </a:pPr>
            <a:r>
              <a:rPr lang="nl" sz="1500">
                <a:solidFill>
                  <a:schemeClr val="dk1"/>
                </a:solidFill>
              </a:rPr>
              <a:t>Focus on crossing</a:t>
            </a:r>
            <a:endParaRPr>
              <a:solidFill>
                <a:schemeClr val="dk1"/>
              </a:solidFill>
            </a:endParaRPr>
          </a:p>
          <a:p>
            <a:pPr indent="-171450" lvl="1" marL="342900" rtl="0" algn="l">
              <a:lnSpc>
                <a:spcPct val="120000"/>
              </a:lnSpc>
              <a:spcBef>
                <a:spcPts val="400"/>
              </a:spcBef>
              <a:spcAft>
                <a:spcPts val="0"/>
              </a:spcAft>
              <a:buClr>
                <a:schemeClr val="dk1"/>
              </a:buClr>
              <a:buSzPts val="1700"/>
              <a:buFont typeface="Arial"/>
              <a:buChar char="•"/>
            </a:pPr>
            <a:r>
              <a:rPr lang="nl" sz="1400">
                <a:solidFill>
                  <a:schemeClr val="dk1"/>
                </a:solidFill>
              </a:rPr>
              <a:t>Effect will disappear</a:t>
            </a:r>
            <a:endParaRPr>
              <a:solidFill>
                <a:schemeClr val="dk1"/>
              </a:solidFill>
            </a:endParaRPr>
          </a:p>
          <a:p>
            <a:pPr indent="-171450" lvl="1" marL="342900" rtl="0" algn="l">
              <a:lnSpc>
                <a:spcPct val="120000"/>
              </a:lnSpc>
              <a:spcBef>
                <a:spcPts val="400"/>
              </a:spcBef>
              <a:spcAft>
                <a:spcPts val="0"/>
              </a:spcAft>
              <a:buClr>
                <a:schemeClr val="dk1"/>
              </a:buClr>
              <a:buSzPts val="1700"/>
              <a:buFont typeface="Arial"/>
              <a:buChar char="•"/>
            </a:pPr>
            <a:r>
              <a:rPr lang="nl" sz="1400">
                <a:solidFill>
                  <a:schemeClr val="dk1"/>
                </a:solidFill>
              </a:rPr>
              <a:t>Effect only appears in peripheral vision</a:t>
            </a:r>
            <a:endParaRPr>
              <a:solidFill>
                <a:schemeClr val="dk1"/>
              </a:solidFill>
            </a:endParaRPr>
          </a:p>
          <a:p>
            <a:pPr indent="-171450" lvl="2" marL="685800" rtl="0" algn="l">
              <a:lnSpc>
                <a:spcPct val="120000"/>
              </a:lnSpc>
              <a:spcBef>
                <a:spcPts val="400"/>
              </a:spcBef>
              <a:spcAft>
                <a:spcPts val="0"/>
              </a:spcAft>
              <a:buClr>
                <a:schemeClr val="dk1"/>
              </a:buClr>
              <a:buSzPts val="1500"/>
              <a:buFont typeface="Arial"/>
              <a:buChar char="•"/>
            </a:pPr>
            <a:r>
              <a:rPr lang="nl" sz="1200">
                <a:solidFill>
                  <a:schemeClr val="dk1"/>
                </a:solidFill>
              </a:rPr>
              <a:t>High density of cells in fovea</a:t>
            </a:r>
            <a:endParaRPr>
              <a:solidFill>
                <a:schemeClr val="dk1"/>
              </a:solidFill>
            </a:endParaRPr>
          </a:p>
          <a:p>
            <a:pPr indent="-63500" lvl="1" marL="342900" rtl="0" algn="l">
              <a:lnSpc>
                <a:spcPct val="120000"/>
              </a:lnSpc>
              <a:spcBef>
                <a:spcPts val="400"/>
              </a:spcBef>
              <a:spcAft>
                <a:spcPts val="0"/>
              </a:spcAft>
              <a:buClr>
                <a:schemeClr val="lt1"/>
              </a:buClr>
              <a:buSzPts val="1700"/>
              <a:buFont typeface="Arial"/>
              <a:buNone/>
            </a:pPr>
            <a:r>
              <a:t/>
            </a:r>
            <a:endParaRPr sz="1400">
              <a:solidFill>
                <a:schemeClr val="dk1"/>
              </a:solidFill>
            </a:endParaRPr>
          </a:p>
          <a:p>
            <a:pPr indent="101600" lvl="0" marL="0" rtl="0" algn="l">
              <a:lnSpc>
                <a:spcPct val="120000"/>
              </a:lnSpc>
              <a:spcBef>
                <a:spcPts val="800"/>
              </a:spcBef>
              <a:spcAft>
                <a:spcPts val="1200"/>
              </a:spcAft>
              <a:buClr>
                <a:schemeClr val="lt1"/>
              </a:buClr>
              <a:buSzPts val="1500"/>
              <a:buFont typeface="Arial"/>
              <a:buNone/>
            </a:pPr>
            <a:r>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7"/>
          <p:cNvSpPr/>
          <p:nvPr/>
        </p:nvSpPr>
        <p:spPr>
          <a:xfrm>
            <a:off x="399625" y="1687125"/>
            <a:ext cx="4351500" cy="17913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 name="Google Shape;170;p27"/>
          <p:cNvPicPr preferRelativeResize="0"/>
          <p:nvPr/>
        </p:nvPicPr>
        <p:blipFill rotWithShape="1">
          <a:blip r:embed="rId3">
            <a:alphaModFix/>
          </a:blip>
          <a:srcRect b="0" l="0" r="0" t="0"/>
          <a:stretch/>
        </p:blipFill>
        <p:spPr>
          <a:xfrm>
            <a:off x="599213" y="1717529"/>
            <a:ext cx="3960054" cy="1702823"/>
          </a:xfrm>
          <a:prstGeom prst="rect">
            <a:avLst/>
          </a:prstGeom>
          <a:noFill/>
          <a:ln>
            <a:noFill/>
          </a:ln>
        </p:spPr>
      </p:pic>
      <p:sp>
        <p:nvSpPr>
          <p:cNvPr id="171" name="Google Shape;171;p27"/>
          <p:cNvSpPr txBox="1"/>
          <p:nvPr>
            <p:ph type="title"/>
          </p:nvPr>
        </p:nvSpPr>
        <p:spPr>
          <a:xfrm>
            <a:off x="4927468" y="463889"/>
            <a:ext cx="35604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solidFill>
                  <a:schemeClr val="dk1"/>
                </a:solidFill>
              </a:rPr>
              <a:t>RETINA</a:t>
            </a:r>
            <a:endParaRPr>
              <a:solidFill>
                <a:schemeClr val="dk1"/>
              </a:solidFill>
            </a:endParaRPr>
          </a:p>
        </p:txBody>
      </p:sp>
      <p:sp>
        <p:nvSpPr>
          <p:cNvPr id="172" name="Google Shape;172;p27"/>
          <p:cNvSpPr txBox="1"/>
          <p:nvPr>
            <p:ph idx="1" type="body"/>
          </p:nvPr>
        </p:nvSpPr>
        <p:spPr>
          <a:xfrm>
            <a:off x="4814596" y="1687115"/>
            <a:ext cx="3673200" cy="2656500"/>
          </a:xfrm>
          <a:prstGeom prst="rect">
            <a:avLst/>
          </a:prstGeom>
          <a:noFill/>
          <a:ln>
            <a:noFill/>
          </a:ln>
        </p:spPr>
        <p:txBody>
          <a:bodyPr anchorCtr="0" anchor="t" bIns="34275" lIns="68575" spcFirstLastPara="1" rIns="68575" wrap="square" tIns="34275">
            <a:normAutofit fontScale="85000" lnSpcReduction="20000"/>
          </a:bodyPr>
          <a:lstStyle/>
          <a:p>
            <a:pPr indent="-166053" lvl="0" marL="177800" rtl="0" algn="l">
              <a:lnSpc>
                <a:spcPct val="120000"/>
              </a:lnSpc>
              <a:spcBef>
                <a:spcPts val="0"/>
              </a:spcBef>
              <a:spcAft>
                <a:spcPts val="0"/>
              </a:spcAft>
              <a:buClr>
                <a:schemeClr val="dk1"/>
              </a:buClr>
              <a:buSzPct val="126667"/>
              <a:buChar char="●"/>
            </a:pPr>
            <a:r>
              <a:rPr b="1" lang="nl" sz="1500">
                <a:solidFill>
                  <a:schemeClr val="dk1"/>
                </a:solidFill>
              </a:rPr>
              <a:t>Baumgartner</a:t>
            </a:r>
            <a:r>
              <a:rPr lang="nl" sz="1500">
                <a:solidFill>
                  <a:schemeClr val="dk1"/>
                </a:solidFill>
              </a:rPr>
              <a:t> (1960)</a:t>
            </a:r>
            <a:endParaRPr>
              <a:solidFill>
                <a:schemeClr val="dk1"/>
              </a:solidFill>
            </a:endParaRPr>
          </a:p>
          <a:p>
            <a:pPr indent="-167958" lvl="1" marL="520700" rtl="0" algn="l">
              <a:lnSpc>
                <a:spcPct val="120000"/>
              </a:lnSpc>
              <a:spcBef>
                <a:spcPts val="400"/>
              </a:spcBef>
              <a:spcAft>
                <a:spcPts val="0"/>
              </a:spcAft>
              <a:buClr>
                <a:schemeClr val="dk1"/>
              </a:buClr>
              <a:buSzPct val="121429"/>
              <a:buChar char="○"/>
            </a:pPr>
            <a:r>
              <a:rPr lang="nl" sz="1400">
                <a:solidFill>
                  <a:schemeClr val="dk1"/>
                </a:solidFill>
              </a:rPr>
              <a:t>Ganglion cells</a:t>
            </a:r>
            <a:endParaRPr>
              <a:solidFill>
                <a:schemeClr val="dk1"/>
              </a:solidFill>
            </a:endParaRPr>
          </a:p>
          <a:p>
            <a:pPr indent="-167958" lvl="1" marL="520700" rtl="0" algn="l">
              <a:lnSpc>
                <a:spcPct val="120000"/>
              </a:lnSpc>
              <a:spcBef>
                <a:spcPts val="400"/>
              </a:spcBef>
              <a:spcAft>
                <a:spcPts val="0"/>
              </a:spcAft>
              <a:buClr>
                <a:schemeClr val="dk1"/>
              </a:buClr>
              <a:buSzPct val="121429"/>
              <a:buChar char="○"/>
            </a:pPr>
            <a:r>
              <a:rPr lang="nl" sz="1400">
                <a:solidFill>
                  <a:schemeClr val="dk1"/>
                </a:solidFill>
              </a:rPr>
              <a:t>Lateral inhibition</a:t>
            </a:r>
            <a:endParaRPr>
              <a:solidFill>
                <a:schemeClr val="dk1"/>
              </a:solidFill>
            </a:endParaRPr>
          </a:p>
          <a:p>
            <a:pPr indent="-164148" lvl="0" marL="177800" rtl="0" algn="l">
              <a:lnSpc>
                <a:spcPct val="120000"/>
              </a:lnSpc>
              <a:spcBef>
                <a:spcPts val="800"/>
              </a:spcBef>
              <a:spcAft>
                <a:spcPts val="0"/>
              </a:spcAft>
              <a:buClr>
                <a:schemeClr val="dk1"/>
              </a:buClr>
              <a:buSzPct val="123529"/>
              <a:buChar char="●"/>
            </a:pPr>
            <a:r>
              <a:rPr lang="nl" sz="1700">
                <a:solidFill>
                  <a:schemeClr val="dk1"/>
                </a:solidFill>
              </a:rPr>
              <a:t>Simplified model</a:t>
            </a:r>
            <a:endParaRPr>
              <a:solidFill>
                <a:schemeClr val="dk1"/>
              </a:solidFill>
            </a:endParaRPr>
          </a:p>
          <a:p>
            <a:pPr indent="-167958" lvl="1" marL="520700" rtl="0" algn="l">
              <a:lnSpc>
                <a:spcPct val="120000"/>
              </a:lnSpc>
              <a:spcBef>
                <a:spcPts val="400"/>
              </a:spcBef>
              <a:spcAft>
                <a:spcPts val="0"/>
              </a:spcAft>
              <a:buClr>
                <a:schemeClr val="dk1"/>
              </a:buClr>
              <a:buSzPct val="121429"/>
              <a:buChar char="○"/>
            </a:pPr>
            <a:r>
              <a:rPr lang="nl" sz="1400">
                <a:solidFill>
                  <a:schemeClr val="dk1"/>
                </a:solidFill>
              </a:rPr>
              <a:t>Bipolar cells </a:t>
            </a:r>
            <a:endParaRPr>
              <a:solidFill>
                <a:schemeClr val="dk1"/>
              </a:solidFill>
            </a:endParaRPr>
          </a:p>
          <a:p>
            <a:pPr indent="-167958" lvl="1" marL="520700" rtl="0" algn="l">
              <a:lnSpc>
                <a:spcPct val="120000"/>
              </a:lnSpc>
              <a:spcBef>
                <a:spcPts val="400"/>
              </a:spcBef>
              <a:spcAft>
                <a:spcPts val="0"/>
              </a:spcAft>
              <a:buClr>
                <a:schemeClr val="dk1"/>
              </a:buClr>
              <a:buSzPct val="121429"/>
              <a:buChar char="○"/>
            </a:pPr>
            <a:r>
              <a:rPr lang="nl" sz="1400">
                <a:solidFill>
                  <a:schemeClr val="dk1"/>
                </a:solidFill>
              </a:rPr>
              <a:t>Horizontal cells</a:t>
            </a:r>
            <a:endParaRPr>
              <a:solidFill>
                <a:schemeClr val="dk1"/>
              </a:solidFill>
            </a:endParaRPr>
          </a:p>
          <a:p>
            <a:pPr indent="-63500" lvl="1" marL="520700" rtl="0" algn="l">
              <a:lnSpc>
                <a:spcPct val="120000"/>
              </a:lnSpc>
              <a:spcBef>
                <a:spcPts val="400"/>
              </a:spcBef>
              <a:spcAft>
                <a:spcPts val="0"/>
              </a:spcAft>
              <a:buClr>
                <a:schemeClr val="lt1"/>
              </a:buClr>
              <a:buSzPct val="135714"/>
              <a:buNone/>
            </a:pPr>
            <a:r>
              <a:t/>
            </a:r>
            <a:endParaRPr>
              <a:solidFill>
                <a:schemeClr val="dk1"/>
              </a:solidFill>
            </a:endParaRPr>
          </a:p>
          <a:p>
            <a:pPr indent="-63500" lvl="0" marL="177800" rtl="0" algn="l">
              <a:lnSpc>
                <a:spcPct val="110000"/>
              </a:lnSpc>
              <a:spcBef>
                <a:spcPts val="800"/>
              </a:spcBef>
              <a:spcAft>
                <a:spcPts val="0"/>
              </a:spcAft>
              <a:buClr>
                <a:schemeClr val="lt1"/>
              </a:buClr>
              <a:buSzPct val="126667"/>
              <a:buNone/>
            </a:pPr>
            <a:r>
              <a:t/>
            </a:r>
            <a:endParaRPr sz="1500">
              <a:solidFill>
                <a:schemeClr val="dk1"/>
              </a:solidFill>
            </a:endParaRPr>
          </a:p>
          <a:p>
            <a:pPr indent="0" lvl="0" marL="0" rtl="0" algn="l">
              <a:lnSpc>
                <a:spcPct val="120000"/>
              </a:lnSpc>
              <a:spcBef>
                <a:spcPts val="800"/>
              </a:spcBef>
              <a:spcAft>
                <a:spcPts val="1200"/>
              </a:spcAft>
              <a:buClr>
                <a:schemeClr val="lt1"/>
              </a:buClr>
              <a:buSzPct val="127778"/>
              <a:buNone/>
            </a:pPr>
            <a:r>
              <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28"/>
          <p:cNvSpPr txBox="1"/>
          <p:nvPr>
            <p:ph type="title"/>
          </p:nvPr>
        </p:nvSpPr>
        <p:spPr>
          <a:xfrm>
            <a:off x="856060" y="463889"/>
            <a:ext cx="45732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t>LATERAL INHIBITION</a:t>
            </a:r>
            <a:endParaRPr/>
          </a:p>
        </p:txBody>
      </p:sp>
      <p:sp>
        <p:nvSpPr>
          <p:cNvPr id="178" name="Google Shape;178;p28"/>
          <p:cNvSpPr txBox="1"/>
          <p:nvPr>
            <p:ph idx="1" type="body"/>
          </p:nvPr>
        </p:nvSpPr>
        <p:spPr>
          <a:xfrm>
            <a:off x="856060" y="1687115"/>
            <a:ext cx="4497000" cy="2656500"/>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lt1"/>
              </a:buClr>
              <a:buSzPts val="2300"/>
              <a:buChar char="●"/>
            </a:pPr>
            <a:r>
              <a:rPr lang="nl"/>
              <a:t>Activity of neighbouring neurons is reduced by an excited neuron</a:t>
            </a:r>
            <a:endParaRPr/>
          </a:p>
          <a:p>
            <a:pPr indent="-184150" lvl="0" marL="177800" rtl="0" algn="l">
              <a:lnSpc>
                <a:spcPct val="120000"/>
              </a:lnSpc>
              <a:spcBef>
                <a:spcPts val="800"/>
              </a:spcBef>
              <a:spcAft>
                <a:spcPts val="0"/>
              </a:spcAft>
              <a:buClr>
                <a:schemeClr val="lt1"/>
              </a:buClr>
              <a:buSzPts val="2300"/>
              <a:buChar char="●"/>
            </a:pPr>
            <a:r>
              <a:rPr i="1" lang="nl"/>
              <a:t>A new </a:t>
            </a:r>
            <a:r>
              <a:rPr lang="nl"/>
              <a:t>= A – (B • 0,10 + C • 0,10 + D •10 + E • 0,10)</a:t>
            </a:r>
            <a:endParaRPr/>
          </a:p>
          <a:p>
            <a:pPr indent="-38100" lvl="0" marL="177800" rtl="0" algn="l">
              <a:lnSpc>
                <a:spcPct val="120000"/>
              </a:lnSpc>
              <a:spcBef>
                <a:spcPts val="800"/>
              </a:spcBef>
              <a:spcAft>
                <a:spcPts val="0"/>
              </a:spcAft>
              <a:buClr>
                <a:schemeClr val="lt1"/>
              </a:buClr>
              <a:buSzPts val="2300"/>
              <a:buNone/>
            </a:pPr>
            <a:r>
              <a:t/>
            </a:r>
            <a:endParaRPr/>
          </a:p>
          <a:p>
            <a:pPr indent="-38100" lvl="0" marL="177800" rtl="0" algn="l">
              <a:lnSpc>
                <a:spcPct val="120000"/>
              </a:lnSpc>
              <a:spcBef>
                <a:spcPts val="800"/>
              </a:spcBef>
              <a:spcAft>
                <a:spcPts val="1200"/>
              </a:spcAft>
              <a:buClr>
                <a:schemeClr val="lt1"/>
              </a:buClr>
              <a:buSzPts val="2300"/>
              <a:buNone/>
            </a:pPr>
            <a:r>
              <a:t/>
            </a:r>
            <a:endParaRPr/>
          </a:p>
        </p:txBody>
      </p:sp>
      <p:sp>
        <p:nvSpPr>
          <p:cNvPr id="179" name="Google Shape;179;p28"/>
          <p:cNvSpPr/>
          <p:nvPr/>
        </p:nvSpPr>
        <p:spPr>
          <a:xfrm>
            <a:off x="5670709" y="0"/>
            <a:ext cx="3473400" cy="5143500"/>
          </a:xfrm>
          <a:prstGeom prst="round2DiagRect">
            <a:avLst>
              <a:gd fmla="val 0"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wentieth Century"/>
              <a:ea typeface="Twentieth Century"/>
              <a:cs typeface="Twentieth Century"/>
              <a:sym typeface="Twentieth Century"/>
            </a:endParaRPr>
          </a:p>
        </p:txBody>
      </p:sp>
      <p:sp>
        <p:nvSpPr>
          <p:cNvPr id="180" name="Google Shape;180;p28"/>
          <p:cNvSpPr/>
          <p:nvPr/>
        </p:nvSpPr>
        <p:spPr>
          <a:xfrm>
            <a:off x="5993125" y="90775"/>
            <a:ext cx="2824500" cy="15057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1" name="Google Shape;181;p28"/>
          <p:cNvPicPr preferRelativeResize="0"/>
          <p:nvPr/>
        </p:nvPicPr>
        <p:blipFill rotWithShape="1">
          <a:blip r:embed="rId3">
            <a:alphaModFix/>
          </a:blip>
          <a:srcRect b="0" l="0" r="0" t="0"/>
          <a:stretch/>
        </p:blipFill>
        <p:spPr>
          <a:xfrm>
            <a:off x="6114190" y="179380"/>
            <a:ext cx="2582360" cy="1355740"/>
          </a:xfrm>
          <a:prstGeom prst="rect">
            <a:avLst/>
          </a:prstGeom>
          <a:noFill/>
          <a:ln>
            <a:noFill/>
          </a:ln>
        </p:spPr>
      </p:pic>
      <p:sp>
        <p:nvSpPr>
          <p:cNvPr id="182" name="Google Shape;182;p28"/>
          <p:cNvSpPr/>
          <p:nvPr/>
        </p:nvSpPr>
        <p:spPr>
          <a:xfrm>
            <a:off x="5948250" y="3561650"/>
            <a:ext cx="2998200" cy="15057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8"/>
          <p:cNvPicPr preferRelativeResize="0"/>
          <p:nvPr/>
        </p:nvPicPr>
        <p:blipFill rotWithShape="1">
          <a:blip r:embed="rId4">
            <a:alphaModFix/>
          </a:blip>
          <a:srcRect b="0" l="0" r="0" t="0"/>
          <a:stretch/>
        </p:blipFill>
        <p:spPr>
          <a:xfrm>
            <a:off x="6122318" y="3599147"/>
            <a:ext cx="2650432" cy="1364973"/>
          </a:xfrm>
          <a:prstGeom prst="rect">
            <a:avLst/>
          </a:prstGeom>
          <a:noFill/>
          <a:ln>
            <a:noFill/>
          </a:ln>
        </p:spPr>
      </p:pic>
      <p:sp>
        <p:nvSpPr>
          <p:cNvPr id="184" name="Google Shape;184;p28"/>
          <p:cNvSpPr/>
          <p:nvPr/>
        </p:nvSpPr>
        <p:spPr>
          <a:xfrm>
            <a:off x="5927975" y="1843375"/>
            <a:ext cx="3086100" cy="15057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fbeelding met tafel&#10;&#10;Automatisch gegenereerde beschrijving" id="185" name="Google Shape;185;p28"/>
          <p:cNvPicPr preferRelativeResize="0"/>
          <p:nvPr/>
        </p:nvPicPr>
        <p:blipFill rotWithShape="1">
          <a:blip r:embed="rId5">
            <a:alphaModFix/>
          </a:blip>
          <a:srcRect b="0" l="0" r="0" t="0"/>
          <a:stretch/>
        </p:blipFill>
        <p:spPr>
          <a:xfrm>
            <a:off x="6045634" y="1907289"/>
            <a:ext cx="2824458" cy="1228639"/>
          </a:xfrm>
          <a:prstGeom prst="rect">
            <a:avLst/>
          </a:prstGeom>
          <a:noFill/>
          <a:ln>
            <a:noFill/>
          </a:ln>
        </p:spPr>
      </p:pic>
      <p:sp>
        <p:nvSpPr>
          <p:cNvPr id="186" name="Google Shape;186;p28"/>
          <p:cNvSpPr txBox="1"/>
          <p:nvPr/>
        </p:nvSpPr>
        <p:spPr>
          <a:xfrm>
            <a:off x="2475310" y="514350"/>
            <a:ext cx="138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29"/>
          <p:cNvSpPr/>
          <p:nvPr/>
        </p:nvSpPr>
        <p:spPr>
          <a:xfrm>
            <a:off x="2609450" y="2622625"/>
            <a:ext cx="2014800" cy="1892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p:nvPr/>
        </p:nvSpPr>
        <p:spPr>
          <a:xfrm>
            <a:off x="703075" y="2622625"/>
            <a:ext cx="1709700" cy="1892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9"/>
          <p:cNvSpPr/>
          <p:nvPr/>
        </p:nvSpPr>
        <p:spPr>
          <a:xfrm>
            <a:off x="790400" y="771625"/>
            <a:ext cx="3442800" cy="1775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9"/>
          <p:cNvSpPr txBox="1"/>
          <p:nvPr>
            <p:ph type="title"/>
          </p:nvPr>
        </p:nvSpPr>
        <p:spPr>
          <a:xfrm>
            <a:off x="4927468" y="463889"/>
            <a:ext cx="35604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t>LATERAL INHIBITION</a:t>
            </a:r>
            <a:endParaRPr/>
          </a:p>
        </p:txBody>
      </p:sp>
      <p:pic>
        <p:nvPicPr>
          <p:cNvPr id="195" name="Google Shape;195;p29"/>
          <p:cNvPicPr preferRelativeResize="0"/>
          <p:nvPr/>
        </p:nvPicPr>
        <p:blipFill rotWithShape="1">
          <a:blip r:embed="rId3">
            <a:alphaModFix/>
          </a:blip>
          <a:srcRect b="0" l="0" r="0" t="0"/>
          <a:stretch/>
        </p:blipFill>
        <p:spPr>
          <a:xfrm>
            <a:off x="940111" y="833650"/>
            <a:ext cx="3166854" cy="1607178"/>
          </a:xfrm>
          <a:prstGeom prst="rect">
            <a:avLst/>
          </a:prstGeom>
          <a:noFill/>
          <a:ln>
            <a:noFill/>
          </a:ln>
        </p:spPr>
      </p:pic>
      <p:pic>
        <p:nvPicPr>
          <p:cNvPr id="196" name="Google Shape;196;p29"/>
          <p:cNvPicPr preferRelativeResize="0"/>
          <p:nvPr/>
        </p:nvPicPr>
        <p:blipFill rotWithShape="1">
          <a:blip r:embed="rId4">
            <a:alphaModFix/>
          </a:blip>
          <a:srcRect b="0" l="0" r="0" t="0"/>
          <a:stretch/>
        </p:blipFill>
        <p:spPr>
          <a:xfrm>
            <a:off x="832283" y="2681226"/>
            <a:ext cx="1458186" cy="1775183"/>
          </a:xfrm>
          <a:prstGeom prst="rect">
            <a:avLst/>
          </a:prstGeom>
          <a:noFill/>
          <a:ln>
            <a:noFill/>
          </a:ln>
        </p:spPr>
      </p:pic>
      <p:pic>
        <p:nvPicPr>
          <p:cNvPr id="197" name="Google Shape;197;p29"/>
          <p:cNvPicPr preferRelativeResize="0"/>
          <p:nvPr/>
        </p:nvPicPr>
        <p:blipFill rotWithShape="1">
          <a:blip r:embed="rId5">
            <a:alphaModFix/>
          </a:blip>
          <a:srcRect b="0" l="0" r="0" t="0"/>
          <a:stretch/>
        </p:blipFill>
        <p:spPr>
          <a:xfrm>
            <a:off x="2690126" y="2794235"/>
            <a:ext cx="1827927" cy="1549167"/>
          </a:xfrm>
          <a:prstGeom prst="rect">
            <a:avLst/>
          </a:prstGeom>
          <a:noFill/>
          <a:ln>
            <a:noFill/>
          </a:ln>
        </p:spPr>
      </p:pic>
      <p:sp>
        <p:nvSpPr>
          <p:cNvPr id="198" name="Google Shape;198;p29"/>
          <p:cNvSpPr txBox="1"/>
          <p:nvPr>
            <p:ph idx="1" type="body"/>
          </p:nvPr>
        </p:nvSpPr>
        <p:spPr>
          <a:xfrm>
            <a:off x="4927468" y="1687115"/>
            <a:ext cx="3560400" cy="2656500"/>
          </a:xfrm>
          <a:prstGeom prst="rect">
            <a:avLst/>
          </a:prstGeom>
          <a:noFill/>
          <a:ln>
            <a:noFill/>
          </a:ln>
        </p:spPr>
        <p:txBody>
          <a:bodyPr anchorCtr="0" anchor="t" bIns="34275" lIns="68575" spcFirstLastPara="1" rIns="68575" wrap="square" tIns="34275">
            <a:normAutofit/>
          </a:bodyPr>
          <a:lstStyle/>
          <a:p>
            <a:pPr indent="-184150" lvl="0" marL="177800" rtl="0" algn="l">
              <a:lnSpc>
                <a:spcPct val="120000"/>
              </a:lnSpc>
              <a:spcBef>
                <a:spcPts val="0"/>
              </a:spcBef>
              <a:spcAft>
                <a:spcPts val="0"/>
              </a:spcAft>
              <a:buClr>
                <a:schemeClr val="lt1"/>
              </a:buClr>
              <a:buSzPts val="1700"/>
              <a:buChar char="●"/>
            </a:pPr>
            <a:r>
              <a:rPr lang="nl" sz="1400"/>
              <a:t>Purpose lateral inhibition is to enhance edges</a:t>
            </a:r>
            <a:endParaRPr sz="1400"/>
          </a:p>
          <a:p>
            <a:pPr indent="-171450" lvl="1" marL="520700" rtl="0" algn="l">
              <a:lnSpc>
                <a:spcPct val="120000"/>
              </a:lnSpc>
              <a:spcBef>
                <a:spcPts val="400"/>
              </a:spcBef>
              <a:spcAft>
                <a:spcPts val="0"/>
              </a:spcAft>
              <a:buClr>
                <a:schemeClr val="lt1"/>
              </a:buClr>
              <a:buSzPts val="1300"/>
              <a:buChar char="○"/>
            </a:pPr>
            <a:r>
              <a:rPr lang="nl" sz="1100"/>
              <a:t>Lighter colors will be perceived as lighter</a:t>
            </a:r>
            <a:endParaRPr sz="1100"/>
          </a:p>
          <a:p>
            <a:pPr indent="-171450" lvl="1" marL="520700" rtl="0" algn="l">
              <a:lnSpc>
                <a:spcPct val="120000"/>
              </a:lnSpc>
              <a:spcBef>
                <a:spcPts val="400"/>
              </a:spcBef>
              <a:spcAft>
                <a:spcPts val="1200"/>
              </a:spcAft>
              <a:buClr>
                <a:schemeClr val="lt1"/>
              </a:buClr>
              <a:buSzPts val="1300"/>
              <a:buChar char="○"/>
            </a:pPr>
            <a:r>
              <a:rPr lang="nl" sz="1100"/>
              <a:t>Darker colors will be perceived as darker</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2" name="Shape 202"/>
        <p:cNvGrpSpPr/>
        <p:nvPr/>
      </p:nvGrpSpPr>
      <p:grpSpPr>
        <a:xfrm>
          <a:off x="0" y="0"/>
          <a:ext cx="0" cy="0"/>
          <a:chOff x="0" y="0"/>
          <a:chExt cx="0" cy="0"/>
        </a:xfrm>
      </p:grpSpPr>
      <p:sp>
        <p:nvSpPr>
          <p:cNvPr id="203" name="Google Shape;203;p30"/>
          <p:cNvSpPr/>
          <p:nvPr/>
        </p:nvSpPr>
        <p:spPr>
          <a:xfrm>
            <a:off x="3654650" y="1709575"/>
            <a:ext cx="1709700" cy="1754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0"/>
          <p:cNvSpPr txBox="1"/>
          <p:nvPr>
            <p:ph type="title"/>
          </p:nvPr>
        </p:nvSpPr>
        <p:spPr>
          <a:xfrm>
            <a:off x="657000" y="344625"/>
            <a:ext cx="78300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t>CONVOLUTION FILTER</a:t>
            </a:r>
            <a:endParaRPr/>
          </a:p>
        </p:txBody>
      </p:sp>
      <p:pic>
        <p:nvPicPr>
          <p:cNvPr id="205" name="Google Shape;205;p30"/>
          <p:cNvPicPr preferRelativeResize="0"/>
          <p:nvPr/>
        </p:nvPicPr>
        <p:blipFill>
          <a:blip r:embed="rId3">
            <a:alphaModFix/>
          </a:blip>
          <a:stretch>
            <a:fillRect/>
          </a:stretch>
        </p:blipFill>
        <p:spPr>
          <a:xfrm>
            <a:off x="3740448" y="1802698"/>
            <a:ext cx="1538075" cy="1538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9" name="Shape 209"/>
        <p:cNvGrpSpPr/>
        <p:nvPr/>
      </p:nvGrpSpPr>
      <p:grpSpPr>
        <a:xfrm>
          <a:off x="0" y="0"/>
          <a:ext cx="0" cy="0"/>
          <a:chOff x="0" y="0"/>
          <a:chExt cx="0" cy="0"/>
        </a:xfrm>
      </p:grpSpPr>
      <p:sp>
        <p:nvSpPr>
          <p:cNvPr id="210" name="Google Shape;210;p31"/>
          <p:cNvSpPr/>
          <p:nvPr/>
        </p:nvSpPr>
        <p:spPr>
          <a:xfrm>
            <a:off x="1539350" y="1746375"/>
            <a:ext cx="6135300" cy="1892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1"/>
          <p:cNvSpPr txBox="1"/>
          <p:nvPr>
            <p:ph type="title"/>
          </p:nvPr>
        </p:nvSpPr>
        <p:spPr>
          <a:xfrm>
            <a:off x="657000" y="344625"/>
            <a:ext cx="78300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t>RESULT</a:t>
            </a:r>
            <a:endParaRPr/>
          </a:p>
        </p:txBody>
      </p:sp>
      <p:pic>
        <p:nvPicPr>
          <p:cNvPr id="212" name="Google Shape;212;p31"/>
          <p:cNvPicPr preferRelativeResize="0"/>
          <p:nvPr/>
        </p:nvPicPr>
        <p:blipFill>
          <a:blip r:embed="rId3">
            <a:alphaModFix/>
          </a:blip>
          <a:stretch>
            <a:fillRect/>
          </a:stretch>
        </p:blipFill>
        <p:spPr>
          <a:xfrm>
            <a:off x="1648163" y="1854549"/>
            <a:ext cx="1682308" cy="1676039"/>
          </a:xfrm>
          <a:prstGeom prst="rect">
            <a:avLst/>
          </a:prstGeom>
          <a:noFill/>
          <a:ln>
            <a:noFill/>
          </a:ln>
        </p:spPr>
      </p:pic>
      <p:sp>
        <p:nvSpPr>
          <p:cNvPr id="213" name="Google Shape;213;p31"/>
          <p:cNvSpPr txBox="1"/>
          <p:nvPr/>
        </p:nvSpPr>
        <p:spPr>
          <a:xfrm>
            <a:off x="3426671" y="2283487"/>
            <a:ext cx="2557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4800">
                <a:solidFill>
                  <a:schemeClr val="lt1"/>
                </a:solidFill>
                <a:latin typeface="Times New Roman"/>
                <a:ea typeface="Times New Roman"/>
                <a:cs typeface="Times New Roman"/>
                <a:sym typeface="Times New Roman"/>
              </a:rPr>
              <a:t>∗			  =</a:t>
            </a:r>
            <a:endParaRPr>
              <a:solidFill>
                <a:schemeClr val="lt1"/>
              </a:solidFill>
              <a:latin typeface="Twentieth Century"/>
              <a:ea typeface="Twentieth Century"/>
              <a:cs typeface="Twentieth Century"/>
              <a:sym typeface="Twentieth Century"/>
            </a:endParaRPr>
          </a:p>
        </p:txBody>
      </p:sp>
      <p:pic>
        <p:nvPicPr>
          <p:cNvPr id="214" name="Google Shape;214;p31"/>
          <p:cNvPicPr preferRelativeResize="0"/>
          <p:nvPr/>
        </p:nvPicPr>
        <p:blipFill>
          <a:blip r:embed="rId4">
            <a:alphaModFix/>
          </a:blip>
          <a:stretch>
            <a:fillRect/>
          </a:stretch>
        </p:blipFill>
        <p:spPr>
          <a:xfrm>
            <a:off x="3929294" y="2201219"/>
            <a:ext cx="982681" cy="982697"/>
          </a:xfrm>
          <a:prstGeom prst="rect">
            <a:avLst/>
          </a:prstGeom>
          <a:noFill/>
          <a:ln>
            <a:noFill/>
          </a:ln>
        </p:spPr>
      </p:pic>
      <p:pic>
        <p:nvPicPr>
          <p:cNvPr id="215" name="Google Shape;215;p31"/>
          <p:cNvPicPr preferRelativeResize="0"/>
          <p:nvPr/>
        </p:nvPicPr>
        <p:blipFill>
          <a:blip r:embed="rId5">
            <a:alphaModFix/>
          </a:blip>
          <a:stretch>
            <a:fillRect/>
          </a:stretch>
        </p:blipFill>
        <p:spPr>
          <a:xfrm>
            <a:off x="5813530" y="1854560"/>
            <a:ext cx="1682307" cy="16760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9" name="Shape 219"/>
        <p:cNvGrpSpPr/>
        <p:nvPr/>
      </p:nvGrpSpPr>
      <p:grpSpPr>
        <a:xfrm>
          <a:off x="0" y="0"/>
          <a:ext cx="0" cy="0"/>
          <a:chOff x="0" y="0"/>
          <a:chExt cx="0" cy="0"/>
        </a:xfrm>
      </p:grpSpPr>
      <p:sp>
        <p:nvSpPr>
          <p:cNvPr id="220" name="Google Shape;220;p32"/>
          <p:cNvSpPr/>
          <p:nvPr/>
        </p:nvSpPr>
        <p:spPr>
          <a:xfrm>
            <a:off x="3648550" y="3182300"/>
            <a:ext cx="4773600" cy="15318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2"/>
          <p:cNvSpPr/>
          <p:nvPr/>
        </p:nvSpPr>
        <p:spPr>
          <a:xfrm>
            <a:off x="1620775" y="1157275"/>
            <a:ext cx="6068700" cy="1892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2"/>
          <p:cNvSpPr txBox="1"/>
          <p:nvPr>
            <p:ph type="title"/>
          </p:nvPr>
        </p:nvSpPr>
        <p:spPr>
          <a:xfrm>
            <a:off x="657000" y="344625"/>
            <a:ext cx="7830000" cy="1109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700"/>
              <a:buFont typeface="Twentieth Century"/>
              <a:buNone/>
            </a:pPr>
            <a:r>
              <a:rPr lang="nl"/>
              <a:t>EDGE DETECTION</a:t>
            </a:r>
            <a:endParaRPr/>
          </a:p>
        </p:txBody>
      </p:sp>
      <p:sp>
        <p:nvSpPr>
          <p:cNvPr id="223" name="Google Shape;223;p32"/>
          <p:cNvSpPr txBox="1"/>
          <p:nvPr/>
        </p:nvSpPr>
        <p:spPr>
          <a:xfrm>
            <a:off x="3426671" y="1597687"/>
            <a:ext cx="2557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4800">
                <a:solidFill>
                  <a:schemeClr val="lt1"/>
                </a:solidFill>
                <a:latin typeface="Times New Roman"/>
                <a:ea typeface="Times New Roman"/>
                <a:cs typeface="Times New Roman"/>
                <a:sym typeface="Times New Roman"/>
              </a:rPr>
              <a:t>∗			  =</a:t>
            </a:r>
            <a:endParaRPr>
              <a:solidFill>
                <a:schemeClr val="lt1"/>
              </a:solidFill>
              <a:latin typeface="Twentieth Century"/>
              <a:ea typeface="Twentieth Century"/>
              <a:cs typeface="Twentieth Century"/>
              <a:sym typeface="Twentieth Century"/>
            </a:endParaRPr>
          </a:p>
        </p:txBody>
      </p:sp>
      <p:pic>
        <p:nvPicPr>
          <p:cNvPr id="224" name="Google Shape;224;p32"/>
          <p:cNvPicPr preferRelativeResize="0"/>
          <p:nvPr/>
        </p:nvPicPr>
        <p:blipFill>
          <a:blip r:embed="rId3">
            <a:alphaModFix/>
          </a:blip>
          <a:stretch>
            <a:fillRect/>
          </a:stretch>
        </p:blipFill>
        <p:spPr>
          <a:xfrm>
            <a:off x="3929294" y="1515419"/>
            <a:ext cx="982681" cy="982697"/>
          </a:xfrm>
          <a:prstGeom prst="rect">
            <a:avLst/>
          </a:prstGeom>
          <a:noFill/>
          <a:ln>
            <a:noFill/>
          </a:ln>
        </p:spPr>
      </p:pic>
      <p:pic>
        <p:nvPicPr>
          <p:cNvPr id="225" name="Google Shape;225;p32"/>
          <p:cNvPicPr preferRelativeResize="0"/>
          <p:nvPr/>
        </p:nvPicPr>
        <p:blipFill>
          <a:blip r:embed="rId4">
            <a:alphaModFix/>
          </a:blip>
          <a:stretch>
            <a:fillRect/>
          </a:stretch>
        </p:blipFill>
        <p:spPr>
          <a:xfrm>
            <a:off x="1744375" y="1292375"/>
            <a:ext cx="1682300" cy="1682300"/>
          </a:xfrm>
          <a:prstGeom prst="rect">
            <a:avLst/>
          </a:prstGeom>
          <a:noFill/>
          <a:ln>
            <a:noFill/>
          </a:ln>
        </p:spPr>
      </p:pic>
      <p:pic>
        <p:nvPicPr>
          <p:cNvPr id="226" name="Google Shape;226;p32"/>
          <p:cNvPicPr preferRelativeResize="0"/>
          <p:nvPr/>
        </p:nvPicPr>
        <p:blipFill>
          <a:blip r:embed="rId5">
            <a:alphaModFix/>
          </a:blip>
          <a:stretch>
            <a:fillRect/>
          </a:stretch>
        </p:blipFill>
        <p:spPr>
          <a:xfrm>
            <a:off x="5820922" y="1292363"/>
            <a:ext cx="1682301" cy="1682318"/>
          </a:xfrm>
          <a:prstGeom prst="rect">
            <a:avLst/>
          </a:prstGeom>
          <a:noFill/>
          <a:ln>
            <a:noFill/>
          </a:ln>
        </p:spPr>
      </p:pic>
      <p:pic>
        <p:nvPicPr>
          <p:cNvPr id="227" name="Google Shape;227;p32"/>
          <p:cNvPicPr preferRelativeResize="0"/>
          <p:nvPr/>
        </p:nvPicPr>
        <p:blipFill>
          <a:blip r:embed="rId6">
            <a:alphaModFix/>
          </a:blip>
          <a:stretch>
            <a:fillRect/>
          </a:stretch>
        </p:blipFill>
        <p:spPr>
          <a:xfrm>
            <a:off x="3752067" y="3254875"/>
            <a:ext cx="1159900" cy="1377976"/>
          </a:xfrm>
          <a:prstGeom prst="rect">
            <a:avLst/>
          </a:prstGeom>
          <a:noFill/>
          <a:ln>
            <a:noFill/>
          </a:ln>
        </p:spPr>
      </p:pic>
      <p:pic>
        <p:nvPicPr>
          <p:cNvPr id="228" name="Google Shape;228;p32"/>
          <p:cNvPicPr preferRelativeResize="0"/>
          <p:nvPr/>
        </p:nvPicPr>
        <p:blipFill>
          <a:blip r:embed="rId7">
            <a:alphaModFix/>
          </a:blip>
          <a:stretch>
            <a:fillRect/>
          </a:stretch>
        </p:blipFill>
        <p:spPr>
          <a:xfrm>
            <a:off x="5119175" y="3254875"/>
            <a:ext cx="1877613" cy="1377975"/>
          </a:xfrm>
          <a:prstGeom prst="rect">
            <a:avLst/>
          </a:prstGeom>
          <a:noFill/>
          <a:ln>
            <a:noFill/>
          </a:ln>
        </p:spPr>
      </p:pic>
      <p:pic>
        <p:nvPicPr>
          <p:cNvPr id="229" name="Google Shape;229;p32"/>
          <p:cNvPicPr preferRelativeResize="0"/>
          <p:nvPr/>
        </p:nvPicPr>
        <p:blipFill>
          <a:blip r:embed="rId8">
            <a:alphaModFix/>
          </a:blip>
          <a:stretch>
            <a:fillRect/>
          </a:stretch>
        </p:blipFill>
        <p:spPr>
          <a:xfrm>
            <a:off x="7203999" y="3254875"/>
            <a:ext cx="1094486" cy="1377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Convolutional Neural Networks</a:t>
            </a:r>
            <a:endParaRPr/>
          </a:p>
        </p:txBody>
      </p:sp>
      <p:sp>
        <p:nvSpPr>
          <p:cNvPr id="235" name="Google Shape;23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We can build a convolutional neural network by adding more layers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nl"/>
              <a:t>Goal: feature extraction</a:t>
            </a:r>
            <a:endParaRPr/>
          </a:p>
          <a:p>
            <a:pPr indent="-317500" lvl="1" marL="914400" rtl="0" algn="l">
              <a:spcBef>
                <a:spcPts val="0"/>
              </a:spcBef>
              <a:spcAft>
                <a:spcPts val="0"/>
              </a:spcAft>
              <a:buSzPts val="1400"/>
              <a:buChar char="○"/>
            </a:pPr>
            <a:r>
              <a:rPr lang="nl"/>
              <a:t>Object recognition</a:t>
            </a:r>
            <a:endParaRPr/>
          </a:p>
          <a:p>
            <a:pPr indent="-317500" lvl="1" marL="914400" rtl="0" algn="l">
              <a:spcBef>
                <a:spcPts val="0"/>
              </a:spcBef>
              <a:spcAft>
                <a:spcPts val="0"/>
              </a:spcAft>
              <a:buSzPts val="1400"/>
              <a:buChar char="○"/>
            </a:pPr>
            <a:r>
              <a:rPr lang="nl"/>
              <a:t>Language processing</a:t>
            </a:r>
            <a:endParaRPr/>
          </a:p>
          <a:p>
            <a:pPr indent="-317500" lvl="1" marL="914400" rtl="0" algn="l">
              <a:spcBef>
                <a:spcPts val="0"/>
              </a:spcBef>
              <a:spcAft>
                <a:spcPts val="0"/>
              </a:spcAft>
              <a:buSzPts val="1400"/>
              <a:buChar char="○"/>
            </a:pPr>
            <a:r>
              <a:rPr lang="nl"/>
              <a:t>Medical image analysis</a:t>
            </a:r>
            <a:endParaRPr/>
          </a:p>
          <a:p>
            <a:pPr indent="-317500" lvl="1" marL="914400" rtl="0" algn="l">
              <a:spcBef>
                <a:spcPts val="0"/>
              </a:spcBef>
              <a:spcAft>
                <a:spcPts val="0"/>
              </a:spcAft>
              <a:buSzPts val="1400"/>
              <a:buChar char="○"/>
            </a:pPr>
            <a:r>
              <a:rPr lang="nl"/>
              <a:t>Econometrics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1" name="Google Shape;24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2" name="Google Shape;242;p34"/>
          <p:cNvPicPr preferRelativeResize="0"/>
          <p:nvPr/>
        </p:nvPicPr>
        <p:blipFill>
          <a:blip r:embed="rId3">
            <a:alphaModFix/>
          </a:blip>
          <a:stretch>
            <a:fillRect/>
          </a:stretch>
        </p:blipFill>
        <p:spPr>
          <a:xfrm>
            <a:off x="1138808" y="0"/>
            <a:ext cx="6866384"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5"/>
          <p:cNvSpPr/>
          <p:nvPr/>
        </p:nvSpPr>
        <p:spPr>
          <a:xfrm>
            <a:off x="4951200" y="1535675"/>
            <a:ext cx="4344000" cy="18924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The neocognitron</a:t>
            </a:r>
            <a:endParaRPr/>
          </a:p>
        </p:txBody>
      </p:sp>
      <p:sp>
        <p:nvSpPr>
          <p:cNvPr id="249" name="Google Shape;249;p35"/>
          <p:cNvSpPr txBox="1"/>
          <p:nvPr>
            <p:ph idx="1" type="body"/>
          </p:nvPr>
        </p:nvSpPr>
        <p:spPr>
          <a:xfrm>
            <a:off x="311700" y="1229875"/>
            <a:ext cx="46395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Visual pattern recognition with performance similar to a human</a:t>
            </a:r>
            <a:endParaRPr/>
          </a:p>
          <a:p>
            <a:pPr indent="-317500" lvl="1" marL="914400" rtl="0" algn="l">
              <a:spcBef>
                <a:spcPts val="0"/>
              </a:spcBef>
              <a:spcAft>
                <a:spcPts val="0"/>
              </a:spcAft>
              <a:buSzPts val="1400"/>
              <a:buChar char="○"/>
            </a:pPr>
            <a:r>
              <a:rPr lang="nl"/>
              <a:t>Using the brain as inspiration →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nl"/>
              <a:t>Core idea of the neocognitron:</a:t>
            </a:r>
            <a:endParaRPr/>
          </a:p>
          <a:p>
            <a:pPr indent="-317500" lvl="1" marL="914400" rtl="0" algn="l">
              <a:spcBef>
                <a:spcPts val="0"/>
              </a:spcBef>
              <a:spcAft>
                <a:spcPts val="0"/>
              </a:spcAft>
              <a:buSzPts val="1400"/>
              <a:buChar char="○"/>
            </a:pPr>
            <a:r>
              <a:rPr lang="nl"/>
              <a:t>A hierarchical multilayered network consisting of neuron-like cells. Connections between cells are variable and the network is able to recognize patterns by learning.</a:t>
            </a:r>
            <a:endParaRPr/>
          </a:p>
        </p:txBody>
      </p:sp>
      <p:pic>
        <p:nvPicPr>
          <p:cNvPr id="250" name="Google Shape;250;p35"/>
          <p:cNvPicPr preferRelativeResize="0"/>
          <p:nvPr/>
        </p:nvPicPr>
        <p:blipFill>
          <a:blip r:embed="rId3">
            <a:alphaModFix/>
          </a:blip>
          <a:stretch>
            <a:fillRect/>
          </a:stretch>
        </p:blipFill>
        <p:spPr>
          <a:xfrm>
            <a:off x="5063450" y="1666024"/>
            <a:ext cx="4115475" cy="1631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p:nvPr/>
        </p:nvSpPr>
        <p:spPr>
          <a:xfrm>
            <a:off x="3367325" y="2622625"/>
            <a:ext cx="4477500" cy="22767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Structure of the model</a:t>
            </a:r>
            <a:endParaRPr/>
          </a:p>
        </p:txBody>
      </p:sp>
      <p:sp>
        <p:nvSpPr>
          <p:cNvPr id="257" name="Google Shape;25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nl" sz="1400"/>
              <a:t>Multiple layers</a:t>
            </a:r>
            <a:endParaRPr sz="1400"/>
          </a:p>
          <a:p>
            <a:pPr indent="-292100" lvl="1" marL="914400" rtl="0" algn="l">
              <a:spcBef>
                <a:spcPts val="0"/>
              </a:spcBef>
              <a:spcAft>
                <a:spcPts val="0"/>
              </a:spcAft>
              <a:buSzPts val="1000"/>
              <a:buChar char="○"/>
            </a:pPr>
            <a:r>
              <a:rPr lang="nl" sz="1000"/>
              <a:t>Alternating layers of S and C cells</a:t>
            </a:r>
            <a:endParaRPr sz="1000"/>
          </a:p>
          <a:p>
            <a:pPr indent="-317500" lvl="0" marL="457200" rtl="0" algn="l">
              <a:spcBef>
                <a:spcPts val="0"/>
              </a:spcBef>
              <a:spcAft>
                <a:spcPts val="0"/>
              </a:spcAft>
              <a:buSzPts val="1400"/>
              <a:buChar char="●"/>
            </a:pPr>
            <a:r>
              <a:rPr lang="nl" sz="1400"/>
              <a:t>Retinotopically ordered</a:t>
            </a:r>
            <a:endParaRPr sz="1400"/>
          </a:p>
          <a:p>
            <a:pPr indent="-292100" lvl="1" marL="914400" rtl="0" algn="l">
              <a:spcBef>
                <a:spcPts val="0"/>
              </a:spcBef>
              <a:spcAft>
                <a:spcPts val="0"/>
              </a:spcAft>
              <a:buSzPts val="1000"/>
              <a:buChar char="○"/>
            </a:pPr>
            <a:r>
              <a:rPr lang="nl" sz="1000"/>
              <a:t>Lower stage layers respond to low level features such as edges</a:t>
            </a:r>
            <a:endParaRPr sz="1000"/>
          </a:p>
          <a:p>
            <a:pPr indent="-292100" lvl="1" marL="914400" rtl="0" algn="l">
              <a:spcBef>
                <a:spcPts val="0"/>
              </a:spcBef>
              <a:spcAft>
                <a:spcPts val="0"/>
              </a:spcAft>
              <a:buSzPts val="1000"/>
              <a:buChar char="○"/>
            </a:pPr>
            <a:r>
              <a:rPr lang="nl" sz="1000"/>
              <a:t>Higher stage layers respond to more global features</a:t>
            </a:r>
            <a:endParaRPr sz="1000"/>
          </a:p>
          <a:p>
            <a:pPr indent="-292100" lvl="1" marL="914400" rtl="0" algn="l">
              <a:spcBef>
                <a:spcPts val="0"/>
              </a:spcBef>
              <a:spcAft>
                <a:spcPts val="0"/>
              </a:spcAft>
              <a:buSzPts val="1000"/>
              <a:buChar char="○"/>
            </a:pPr>
            <a:r>
              <a:rPr lang="nl" sz="1000"/>
              <a:t>As features detected become more global, neurons per layer decrease</a:t>
            </a:r>
            <a:endParaRPr sz="1000"/>
          </a:p>
        </p:txBody>
      </p:sp>
      <p:pic>
        <p:nvPicPr>
          <p:cNvPr id="258" name="Google Shape;258;p36"/>
          <p:cNvPicPr preferRelativeResize="0"/>
          <p:nvPr/>
        </p:nvPicPr>
        <p:blipFill>
          <a:blip r:embed="rId3">
            <a:alphaModFix/>
          </a:blip>
          <a:stretch>
            <a:fillRect/>
          </a:stretch>
        </p:blipFill>
        <p:spPr>
          <a:xfrm>
            <a:off x="3534725" y="2719800"/>
            <a:ext cx="4157775" cy="2046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p:nvPr/>
        </p:nvSpPr>
        <p:spPr>
          <a:xfrm>
            <a:off x="3977700" y="0"/>
            <a:ext cx="5110500" cy="41445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Types of Cells</a:t>
            </a:r>
            <a:endParaRPr/>
          </a:p>
        </p:txBody>
      </p:sp>
      <p:sp>
        <p:nvSpPr>
          <p:cNvPr id="265" name="Google Shape;265;p37"/>
          <p:cNvSpPr txBox="1"/>
          <p:nvPr>
            <p:ph idx="1" type="body"/>
          </p:nvPr>
        </p:nvSpPr>
        <p:spPr>
          <a:xfrm>
            <a:off x="311700" y="1229875"/>
            <a:ext cx="36660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nl" sz="1400"/>
              <a:t>Multiple types of cells</a:t>
            </a:r>
            <a:endParaRPr sz="1400"/>
          </a:p>
          <a:p>
            <a:pPr indent="-292100" lvl="1" marL="914400" rtl="0" algn="l">
              <a:spcBef>
                <a:spcPts val="0"/>
              </a:spcBef>
              <a:spcAft>
                <a:spcPts val="0"/>
              </a:spcAft>
              <a:buSzPts val="1000"/>
              <a:buChar char="○"/>
            </a:pPr>
            <a:r>
              <a:rPr lang="nl" sz="1000"/>
              <a:t>S Cells</a:t>
            </a:r>
            <a:endParaRPr sz="1000"/>
          </a:p>
          <a:p>
            <a:pPr indent="-292100" lvl="2" marL="1371600" rtl="0" algn="l">
              <a:spcBef>
                <a:spcPts val="0"/>
              </a:spcBef>
              <a:spcAft>
                <a:spcPts val="0"/>
              </a:spcAft>
              <a:buSzPts val="1000"/>
              <a:buChar char="■"/>
            </a:pPr>
            <a:r>
              <a:rPr lang="nl" sz="1000"/>
              <a:t>Feature </a:t>
            </a:r>
            <a:r>
              <a:rPr lang="nl" sz="1000"/>
              <a:t>extraction</a:t>
            </a:r>
            <a:endParaRPr sz="1000"/>
          </a:p>
          <a:p>
            <a:pPr indent="-292100" lvl="2" marL="1371600" rtl="0" algn="l">
              <a:spcBef>
                <a:spcPts val="0"/>
              </a:spcBef>
              <a:spcAft>
                <a:spcPts val="0"/>
              </a:spcAft>
              <a:buSzPts val="1000"/>
              <a:buChar char="■"/>
            </a:pPr>
            <a:r>
              <a:rPr lang="nl" sz="1000"/>
              <a:t>Variable weights</a:t>
            </a:r>
            <a:endParaRPr sz="1000"/>
          </a:p>
          <a:p>
            <a:pPr indent="-292100" lvl="2" marL="1371600" rtl="0" algn="l">
              <a:spcBef>
                <a:spcPts val="0"/>
              </a:spcBef>
              <a:spcAft>
                <a:spcPts val="0"/>
              </a:spcAft>
              <a:buSzPts val="1000"/>
              <a:buChar char="■"/>
            </a:pPr>
            <a:r>
              <a:rPr lang="nl" sz="1000"/>
              <a:t>Similar to filters in convolutions and receptive fields. </a:t>
            </a:r>
            <a:endParaRPr sz="1000"/>
          </a:p>
          <a:p>
            <a:pPr indent="-292100" lvl="1" marL="914400" rtl="0" algn="l">
              <a:spcBef>
                <a:spcPts val="0"/>
              </a:spcBef>
              <a:spcAft>
                <a:spcPts val="0"/>
              </a:spcAft>
              <a:buSzPts val="1000"/>
              <a:buChar char="○"/>
            </a:pPr>
            <a:r>
              <a:rPr lang="nl" sz="1000"/>
              <a:t>C Cells</a:t>
            </a:r>
            <a:endParaRPr sz="1000"/>
          </a:p>
          <a:p>
            <a:pPr indent="-292100" lvl="2" marL="1371600" rtl="0" algn="l">
              <a:spcBef>
                <a:spcPts val="0"/>
              </a:spcBef>
              <a:spcAft>
                <a:spcPts val="0"/>
              </a:spcAft>
              <a:buSzPts val="1000"/>
              <a:buChar char="■"/>
            </a:pPr>
            <a:r>
              <a:rPr lang="nl" sz="1000"/>
              <a:t>Combines output of S Cells which detect the same feature, but from different positions.</a:t>
            </a:r>
            <a:endParaRPr sz="1000"/>
          </a:p>
          <a:p>
            <a:pPr indent="-292100" lvl="2" marL="1371600" rtl="0" algn="l">
              <a:spcBef>
                <a:spcPts val="0"/>
              </a:spcBef>
              <a:spcAft>
                <a:spcPts val="0"/>
              </a:spcAft>
              <a:buSzPts val="1000"/>
              <a:buChar char="■"/>
            </a:pPr>
            <a:r>
              <a:rPr lang="nl" sz="1000"/>
              <a:t>Constant weights</a:t>
            </a:r>
            <a:endParaRPr sz="1000"/>
          </a:p>
          <a:p>
            <a:pPr indent="-292100" lvl="1" marL="914400" rtl="0" algn="l">
              <a:spcBef>
                <a:spcPts val="0"/>
              </a:spcBef>
              <a:spcAft>
                <a:spcPts val="0"/>
              </a:spcAft>
              <a:buSzPts val="1000"/>
              <a:buChar char="○"/>
            </a:pPr>
            <a:r>
              <a:rPr lang="nl" sz="1000"/>
              <a:t>V Cells</a:t>
            </a:r>
            <a:endParaRPr sz="1000"/>
          </a:p>
          <a:p>
            <a:pPr indent="-292100" lvl="2" marL="1371600" rtl="0" algn="l">
              <a:spcBef>
                <a:spcPts val="0"/>
              </a:spcBef>
              <a:spcAft>
                <a:spcPts val="0"/>
              </a:spcAft>
              <a:buSzPts val="1000"/>
              <a:buChar char="■"/>
            </a:pPr>
            <a:r>
              <a:rPr lang="nl" sz="1000"/>
              <a:t>Inhibitory</a:t>
            </a:r>
            <a:endParaRPr sz="1000"/>
          </a:p>
          <a:p>
            <a:pPr indent="-292100" lvl="2" marL="1371600" rtl="0" algn="l">
              <a:spcBef>
                <a:spcPts val="0"/>
              </a:spcBef>
              <a:spcAft>
                <a:spcPts val="0"/>
              </a:spcAft>
              <a:buSzPts val="1000"/>
              <a:buChar char="■"/>
            </a:pPr>
            <a:r>
              <a:rPr lang="nl" sz="1000"/>
              <a:t>Detect irrelevancies</a:t>
            </a:r>
            <a:endParaRPr sz="1000"/>
          </a:p>
        </p:txBody>
      </p:sp>
      <p:pic>
        <p:nvPicPr>
          <p:cNvPr id="266" name="Google Shape;266;p37"/>
          <p:cNvPicPr preferRelativeResize="0"/>
          <p:nvPr/>
        </p:nvPicPr>
        <p:blipFill>
          <a:blip r:embed="rId3">
            <a:alphaModFix/>
          </a:blip>
          <a:stretch>
            <a:fillRect/>
          </a:stretch>
        </p:blipFill>
        <p:spPr>
          <a:xfrm>
            <a:off x="4115801" y="1229875"/>
            <a:ext cx="1946100" cy="2034749"/>
          </a:xfrm>
          <a:prstGeom prst="rect">
            <a:avLst/>
          </a:prstGeom>
          <a:noFill/>
          <a:ln>
            <a:noFill/>
          </a:ln>
        </p:spPr>
      </p:pic>
      <p:pic>
        <p:nvPicPr>
          <p:cNvPr id="267" name="Google Shape;267;p37"/>
          <p:cNvPicPr preferRelativeResize="0"/>
          <p:nvPr/>
        </p:nvPicPr>
        <p:blipFill>
          <a:blip r:embed="rId4">
            <a:alphaModFix/>
          </a:blip>
          <a:stretch>
            <a:fillRect/>
          </a:stretch>
        </p:blipFill>
        <p:spPr>
          <a:xfrm>
            <a:off x="6061900" y="132275"/>
            <a:ext cx="2736876" cy="1523551"/>
          </a:xfrm>
          <a:prstGeom prst="rect">
            <a:avLst/>
          </a:prstGeom>
          <a:noFill/>
          <a:ln>
            <a:noFill/>
          </a:ln>
        </p:spPr>
      </p:pic>
      <p:pic>
        <p:nvPicPr>
          <p:cNvPr id="268" name="Google Shape;268;p37"/>
          <p:cNvPicPr preferRelativeResize="0"/>
          <p:nvPr/>
        </p:nvPicPr>
        <p:blipFill>
          <a:blip r:embed="rId5">
            <a:alphaModFix/>
          </a:blip>
          <a:stretch>
            <a:fillRect/>
          </a:stretch>
        </p:blipFill>
        <p:spPr>
          <a:xfrm>
            <a:off x="6289273" y="1850100"/>
            <a:ext cx="2543024" cy="20985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Self-organization</a:t>
            </a:r>
            <a:endParaRPr/>
          </a:p>
        </p:txBody>
      </p:sp>
      <p:sp>
        <p:nvSpPr>
          <p:cNvPr id="274" name="Google Shape;274;p38"/>
          <p:cNvSpPr txBox="1"/>
          <p:nvPr>
            <p:ph idx="1" type="body"/>
          </p:nvPr>
        </p:nvSpPr>
        <p:spPr>
          <a:xfrm>
            <a:off x="311700" y="1087750"/>
            <a:ext cx="8607300" cy="3504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Variable connections reinforced if </a:t>
            </a:r>
            <a:r>
              <a:rPr b="1" lang="nl"/>
              <a:t>two conditions</a:t>
            </a:r>
            <a:r>
              <a:rPr lang="nl"/>
              <a:t> are true: </a:t>
            </a:r>
            <a:endParaRPr/>
          </a:p>
          <a:p>
            <a:pPr indent="-317500" lvl="1" marL="914400" rtl="0" algn="l">
              <a:spcBef>
                <a:spcPts val="0"/>
              </a:spcBef>
              <a:spcAft>
                <a:spcPts val="0"/>
              </a:spcAft>
              <a:buSzPts val="1400"/>
              <a:buChar char="-"/>
            </a:pPr>
            <a:r>
              <a:rPr lang="nl"/>
              <a:t>Receiving cell responds the strongest</a:t>
            </a:r>
            <a:endParaRPr/>
          </a:p>
          <a:p>
            <a:pPr indent="-317500" lvl="1" marL="914400" rtl="0" algn="l">
              <a:spcBef>
                <a:spcPts val="0"/>
              </a:spcBef>
              <a:spcAft>
                <a:spcPts val="0"/>
              </a:spcAft>
              <a:buSzPts val="1400"/>
              <a:buChar char="-"/>
            </a:pPr>
            <a:r>
              <a:rPr lang="nl"/>
              <a:t>Sending cell is also responding</a:t>
            </a:r>
            <a:endParaRPr/>
          </a:p>
          <a:p>
            <a:pPr indent="-317500" lvl="2" marL="1371600" rtl="0" algn="l">
              <a:spcBef>
                <a:spcPts val="0"/>
              </a:spcBef>
              <a:spcAft>
                <a:spcPts val="0"/>
              </a:spcAft>
              <a:buSzPts val="1400"/>
              <a:buChar char="-"/>
            </a:pPr>
            <a:r>
              <a:rPr lang="nl"/>
              <a:t>Excitatory and inhibitory connections are reinforced </a:t>
            </a:r>
            <a:br>
              <a:rPr lang="nl"/>
            </a:br>
            <a:endParaRPr/>
          </a:p>
          <a:p>
            <a:pPr indent="-342900" lvl="0" marL="457200" rtl="0" algn="l">
              <a:spcBef>
                <a:spcPts val="0"/>
              </a:spcBef>
              <a:spcAft>
                <a:spcPts val="0"/>
              </a:spcAft>
              <a:buSzPts val="1800"/>
              <a:buChar char="-"/>
            </a:pPr>
            <a:r>
              <a:rPr lang="nl"/>
              <a:t>Result: connections to </a:t>
            </a:r>
            <a:r>
              <a:rPr b="1" lang="nl"/>
              <a:t>maximum-output S-cell</a:t>
            </a:r>
            <a:r>
              <a:rPr lang="nl"/>
              <a:t> grow</a:t>
            </a:r>
            <a:endParaRPr/>
          </a:p>
          <a:p>
            <a:pPr indent="-317500" lvl="1" marL="914400" rtl="0" algn="l">
              <a:spcBef>
                <a:spcPts val="0"/>
              </a:spcBef>
              <a:spcAft>
                <a:spcPts val="0"/>
              </a:spcAft>
              <a:buSzPts val="1400"/>
              <a:buChar char="-"/>
            </a:pPr>
            <a:r>
              <a:rPr lang="nl"/>
              <a:t>Matches spatial distribution of response cells</a:t>
            </a:r>
            <a:endParaRPr/>
          </a:p>
          <a:p>
            <a:pPr indent="-317500" lvl="2" marL="1371600" rtl="0" algn="l">
              <a:spcBef>
                <a:spcPts val="0"/>
              </a:spcBef>
              <a:spcAft>
                <a:spcPts val="0"/>
              </a:spcAft>
              <a:buSzPts val="1400"/>
              <a:buChar char="-"/>
            </a:pPr>
            <a:r>
              <a:rPr lang="nl"/>
              <a:t>Acquires ability to extract features</a:t>
            </a:r>
            <a:endParaRPr/>
          </a:p>
          <a:p>
            <a:pPr indent="-317500" lvl="2" marL="1371600" rtl="0" algn="l">
              <a:spcBef>
                <a:spcPts val="0"/>
              </a:spcBef>
              <a:spcAft>
                <a:spcPts val="0"/>
              </a:spcAft>
              <a:buSzPts val="1400"/>
              <a:buChar char="-"/>
            </a:pPr>
            <a:r>
              <a:rPr lang="nl"/>
              <a:t>'Winner takes all' and 'division of labor'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9"/>
          <p:cNvSpPr/>
          <p:nvPr/>
        </p:nvSpPr>
        <p:spPr>
          <a:xfrm>
            <a:off x="6068600" y="2058025"/>
            <a:ext cx="3142500" cy="17091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9"/>
          <p:cNvSpPr/>
          <p:nvPr/>
        </p:nvSpPr>
        <p:spPr>
          <a:xfrm>
            <a:off x="4863750" y="491450"/>
            <a:ext cx="3781800" cy="1605300"/>
          </a:xfrm>
          <a:prstGeom prst="roundRect">
            <a:avLst>
              <a:gd fmla="val 16667" name="adj"/>
            </a:avLst>
          </a:prstGeom>
          <a:solidFill>
            <a:schemeClr val="dk1"/>
          </a:solidFill>
          <a:ln cap="flat" cmpd="sng" w="9525">
            <a:solidFill>
              <a:schemeClr val="lt1"/>
            </a:solidFill>
            <a:prstDash val="solid"/>
            <a:round/>
            <a:headEnd len="sm" w="sm" type="none"/>
            <a:tailEnd len="sm" w="sm" type="none"/>
          </a:ln>
          <a:effectLst>
            <a:outerShdw blurRad="57150" rotWithShape="0" algn="bl" dir="2760000" dist="3810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9"/>
          <p:cNvSpPr txBox="1"/>
          <p:nvPr>
            <p:ph type="title"/>
          </p:nvPr>
        </p:nvSpPr>
        <p:spPr>
          <a:xfrm>
            <a:off x="382775" y="1007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Training of the network</a:t>
            </a:r>
            <a:endParaRPr/>
          </a:p>
        </p:txBody>
      </p:sp>
      <p:sp>
        <p:nvSpPr>
          <p:cNvPr id="282" name="Google Shape;282;p39"/>
          <p:cNvSpPr txBox="1"/>
          <p:nvPr>
            <p:ph idx="1" type="body"/>
          </p:nvPr>
        </p:nvSpPr>
        <p:spPr>
          <a:xfrm>
            <a:off x="311700" y="1559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Lower stages to higher stages</a:t>
            </a:r>
            <a:endParaRPr/>
          </a:p>
          <a:p>
            <a:pPr indent="-317500" lvl="1" marL="914400" rtl="0" algn="l">
              <a:spcBef>
                <a:spcPts val="0"/>
              </a:spcBef>
              <a:spcAft>
                <a:spcPts val="0"/>
              </a:spcAft>
              <a:buSzPts val="1400"/>
              <a:buChar char="-"/>
            </a:pPr>
            <a:r>
              <a:rPr lang="nl"/>
              <a:t>Extract line components of different line orientations</a:t>
            </a:r>
            <a:endParaRPr/>
          </a:p>
          <a:p>
            <a:pPr indent="-317500" lvl="1" marL="914400" rtl="0" algn="l">
              <a:spcBef>
                <a:spcPts val="0"/>
              </a:spcBef>
              <a:spcAft>
                <a:spcPts val="0"/>
              </a:spcAft>
              <a:buSzPts val="1400"/>
              <a:buChar char="-"/>
            </a:pPr>
            <a:r>
              <a:rPr lang="nl"/>
              <a:t>More than one training pattern</a:t>
            </a:r>
            <a:endParaRPr/>
          </a:p>
          <a:p>
            <a:pPr indent="-317500" lvl="2" marL="1371600" rtl="0" algn="l">
              <a:spcBef>
                <a:spcPts val="0"/>
              </a:spcBef>
              <a:spcAft>
                <a:spcPts val="0"/>
              </a:spcAft>
              <a:buSzPts val="1400"/>
              <a:buChar char="-"/>
            </a:pPr>
            <a:r>
              <a:rPr lang="nl"/>
              <a:t>To be able to recognize deformed patterns</a:t>
            </a:r>
            <a:endParaRPr/>
          </a:p>
          <a:p>
            <a:pPr indent="-317500" lvl="1" marL="914400" rtl="0" algn="l">
              <a:spcBef>
                <a:spcPts val="0"/>
              </a:spcBef>
              <a:spcAft>
                <a:spcPts val="0"/>
              </a:spcAft>
              <a:buSzPts val="1400"/>
              <a:buChar char="-"/>
            </a:pPr>
            <a:r>
              <a:rPr lang="nl"/>
              <a:t>Receptive fields become larger in higher stages</a:t>
            </a:r>
            <a:endParaRPr/>
          </a:p>
          <a:p>
            <a:pPr indent="-317500" lvl="1" marL="914400" rtl="0" algn="l">
              <a:spcBef>
                <a:spcPts val="0"/>
              </a:spcBef>
              <a:spcAft>
                <a:spcPts val="0"/>
              </a:spcAft>
              <a:buSzPts val="1400"/>
              <a:buChar char="-"/>
            </a:pPr>
            <a:r>
              <a:rPr lang="nl"/>
              <a:t>Cells are not affected by shifts in position in higher stages</a:t>
            </a:r>
            <a:endParaRPr/>
          </a:p>
        </p:txBody>
      </p:sp>
      <p:pic>
        <p:nvPicPr>
          <p:cNvPr id="283" name="Google Shape;283;p39"/>
          <p:cNvPicPr preferRelativeResize="0"/>
          <p:nvPr/>
        </p:nvPicPr>
        <p:blipFill rotWithShape="1">
          <a:blip r:embed="rId3">
            <a:alphaModFix/>
          </a:blip>
          <a:srcRect b="0" l="0" r="0" t="0"/>
          <a:stretch/>
        </p:blipFill>
        <p:spPr>
          <a:xfrm>
            <a:off x="5008425" y="577913"/>
            <a:ext cx="605300" cy="1359850"/>
          </a:xfrm>
          <a:prstGeom prst="rect">
            <a:avLst/>
          </a:prstGeom>
          <a:noFill/>
          <a:ln>
            <a:noFill/>
          </a:ln>
        </p:spPr>
      </p:pic>
      <p:pic>
        <p:nvPicPr>
          <p:cNvPr id="284" name="Google Shape;284;p39"/>
          <p:cNvPicPr preferRelativeResize="0"/>
          <p:nvPr/>
        </p:nvPicPr>
        <p:blipFill>
          <a:blip r:embed="rId4">
            <a:alphaModFix/>
          </a:blip>
          <a:stretch>
            <a:fillRect/>
          </a:stretch>
        </p:blipFill>
        <p:spPr>
          <a:xfrm>
            <a:off x="5654900" y="577913"/>
            <a:ext cx="710300" cy="1313400"/>
          </a:xfrm>
          <a:prstGeom prst="rect">
            <a:avLst/>
          </a:prstGeom>
          <a:noFill/>
          <a:ln>
            <a:noFill/>
          </a:ln>
        </p:spPr>
      </p:pic>
      <p:pic>
        <p:nvPicPr>
          <p:cNvPr id="285" name="Google Shape;285;p39"/>
          <p:cNvPicPr preferRelativeResize="0"/>
          <p:nvPr/>
        </p:nvPicPr>
        <p:blipFill>
          <a:blip r:embed="rId5">
            <a:alphaModFix/>
          </a:blip>
          <a:stretch>
            <a:fillRect/>
          </a:stretch>
        </p:blipFill>
        <p:spPr>
          <a:xfrm>
            <a:off x="6514375" y="640625"/>
            <a:ext cx="849500" cy="1188025"/>
          </a:xfrm>
          <a:prstGeom prst="rect">
            <a:avLst/>
          </a:prstGeom>
          <a:noFill/>
          <a:ln>
            <a:noFill/>
          </a:ln>
        </p:spPr>
      </p:pic>
      <p:pic>
        <p:nvPicPr>
          <p:cNvPr id="286" name="Google Shape;286;p39"/>
          <p:cNvPicPr preferRelativeResize="0"/>
          <p:nvPr/>
        </p:nvPicPr>
        <p:blipFill>
          <a:blip r:embed="rId6">
            <a:alphaModFix/>
          </a:blip>
          <a:stretch>
            <a:fillRect/>
          </a:stretch>
        </p:blipFill>
        <p:spPr>
          <a:xfrm>
            <a:off x="7447000" y="786825"/>
            <a:ext cx="1019025" cy="690181"/>
          </a:xfrm>
          <a:prstGeom prst="rect">
            <a:avLst/>
          </a:prstGeom>
          <a:noFill/>
          <a:ln>
            <a:noFill/>
          </a:ln>
        </p:spPr>
      </p:pic>
      <p:pic>
        <p:nvPicPr>
          <p:cNvPr id="287" name="Google Shape;287;p39"/>
          <p:cNvPicPr preferRelativeResize="0"/>
          <p:nvPr/>
        </p:nvPicPr>
        <p:blipFill>
          <a:blip r:embed="rId7">
            <a:alphaModFix/>
          </a:blip>
          <a:stretch>
            <a:fillRect/>
          </a:stretch>
        </p:blipFill>
        <p:spPr>
          <a:xfrm>
            <a:off x="6233300" y="2096762"/>
            <a:ext cx="2829900" cy="16052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3" name="Google Shape;29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4" name="Google Shape;294;p40"/>
          <p:cNvPicPr preferRelativeResize="0"/>
          <p:nvPr/>
        </p:nvPicPr>
        <p:blipFill>
          <a:blip r:embed="rId3">
            <a:alphaModFix/>
          </a:blip>
          <a:stretch>
            <a:fillRect/>
          </a:stretch>
        </p:blipFill>
        <p:spPr>
          <a:xfrm>
            <a:off x="1540400" y="330950"/>
            <a:ext cx="5787248" cy="44815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0" name="Google Shape;300;p41"/>
          <p:cNvSpPr txBox="1"/>
          <p:nvPr>
            <p:ph idx="1" type="body"/>
          </p:nvPr>
        </p:nvSpPr>
        <p:spPr>
          <a:xfrm>
            <a:off x="6713325" y="4100000"/>
            <a:ext cx="2197200" cy="713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nl"/>
              <a:t>Acknowledgement: Codex Seraphinianus</a:t>
            </a:r>
            <a:endParaRPr/>
          </a:p>
        </p:txBody>
      </p:sp>
      <p:pic>
        <p:nvPicPr>
          <p:cNvPr id="301" name="Google Shape;301;p41"/>
          <p:cNvPicPr preferRelativeResize="0"/>
          <p:nvPr/>
        </p:nvPicPr>
        <p:blipFill>
          <a:blip r:embed="rId4">
            <a:alphaModFix/>
          </a:blip>
          <a:stretch>
            <a:fillRect/>
          </a:stretch>
        </p:blipFill>
        <p:spPr>
          <a:xfrm>
            <a:off x="2822510" y="0"/>
            <a:ext cx="3498980"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0F374B"/>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