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4d074b8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4d074b8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0e1238146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0e1238146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551460d1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1551460d1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e1238146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e1238146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e1238146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e1238146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0e1238146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0e1238146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e1238146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0e1238146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5aa4deb2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15aa4deb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e1238146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0e1238146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4d074b8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4d074b8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33232f2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33232f2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3389/fnins.2016.00106" TargetMode="External"/><Relationship Id="rId4" Type="http://schemas.openxmlformats.org/officeDocument/2006/relationships/hyperlink" Target="https://doi.org/10.1007/PL00007984" TargetMode="External"/><Relationship Id="rId5" Type="http://schemas.openxmlformats.org/officeDocument/2006/relationships/hyperlink" Target="http://dx.doi.org/10.1016/S0306-4522(98)00319-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/>
              <a:t>BASAL GANGLIA AND ACTION SELECTION</a:t>
            </a:r>
            <a:endParaRPr b="1" sz="44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Cansu Küçüksözen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188" y="1311263"/>
            <a:ext cx="5041962" cy="25209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3575175" y="772925"/>
            <a:ext cx="35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Tourette Syndrome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BASAL GANGLIA?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572000" y="1152425"/>
            <a:ext cx="4416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Input: </a:t>
            </a:r>
            <a:r>
              <a:rPr lang="en" sz="1400"/>
              <a:t>Striatum (caudate, putamen, ventral striatum)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Striatum D1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Striatum D2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Input: Subthalamic nucleus (STN)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Globus pallidus: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Output: Internus (GPi)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Externus (GPe)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Known for: motivational behavior, reinforcement learning, coordinating and initiating movement, </a:t>
            </a:r>
            <a:r>
              <a:rPr b="1" lang="en" sz="1400"/>
              <a:t>action selection </a:t>
            </a:r>
            <a:r>
              <a:rPr lang="en" sz="1400"/>
              <a:t>etc.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Connections: Substantia nigra (SN), motor cortex, thalamus, and various areas in cortex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Medium Spiny Striatal neurons </a:t>
            </a:r>
            <a:endParaRPr sz="140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00" y="1377075"/>
            <a:ext cx="3743549" cy="27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AND ACTION SELECTION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7536600" cy="35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465"/>
              <a:t>Action: </a:t>
            </a:r>
            <a:r>
              <a:rPr lang="en" sz="1188"/>
              <a:t>“the fact or process of doing something, typically to achieve an aim” (New Oxford)</a:t>
            </a:r>
            <a:endParaRPr b="1" sz="14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465" u="sng"/>
              <a:t>Action </a:t>
            </a:r>
            <a:r>
              <a:rPr lang="en" sz="1465"/>
              <a:t>→ Behavioral expression determined by populations of cells in BG → channels (Gurney et al., 2001)</a:t>
            </a:r>
            <a:endParaRPr sz="1465"/>
          </a:p>
          <a:p>
            <a:pPr indent="-3216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5"/>
              <a:buChar char="-"/>
            </a:pPr>
            <a:r>
              <a:rPr lang="en" sz="1465"/>
              <a:t>Associated with elemental motor acts or behavioral strategies.  </a:t>
            </a:r>
            <a:endParaRPr sz="146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65"/>
              <a:t>Action selection:</a:t>
            </a:r>
            <a:r>
              <a:rPr lang="en" sz="1465"/>
              <a:t> selecting certain actions (and suppressing others) for appropriate behavior to occur (Gurney et al., 2001)</a:t>
            </a:r>
            <a:endParaRPr sz="1465"/>
          </a:p>
          <a:p>
            <a:pPr indent="-3216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65"/>
              <a:buChar char="-"/>
            </a:pPr>
            <a:r>
              <a:rPr lang="en" sz="1465"/>
              <a:t>Effective action selection → Central Switching &amp; Selection device = Basal Ganglia</a:t>
            </a:r>
            <a:endParaRPr sz="1465"/>
          </a:p>
          <a:p>
            <a:pPr indent="-3216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65"/>
              <a:buChar char="-"/>
            </a:pPr>
            <a:r>
              <a:rPr lang="en" sz="1465"/>
              <a:t>Original model by Albin et al. (1989) </a:t>
            </a:r>
            <a:endParaRPr sz="1465"/>
          </a:p>
          <a:p>
            <a:pPr indent="-29813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95"/>
              <a:buChar char="-"/>
            </a:pPr>
            <a:r>
              <a:rPr lang="en" sz="1095"/>
              <a:t>but the interaction between pathways were not clear and did not take STN’s connections into account</a:t>
            </a:r>
            <a:endParaRPr sz="109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SELECTION PROBLEM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35500" y="1417250"/>
            <a:ext cx="5558100" cy="3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Problem of selecting between competing behavioral choices or alternatives for actions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Hierarchical decomposition of selection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rgbClr val="434343"/>
                </a:solidFill>
              </a:rPr>
              <a:t>conflicts between competing systems emerge</a:t>
            </a:r>
            <a:endParaRPr sz="1300">
              <a:solidFill>
                <a:srgbClr val="434343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>
                <a:solidFill>
                  <a:srgbClr val="434343"/>
                </a:solidFill>
              </a:rPr>
              <a:t>Appropriate combinations of multiple actions require both simultaneous and sequential activity of output systems.</a:t>
            </a:r>
            <a:endParaRPr sz="1300">
              <a:solidFill>
                <a:srgbClr val="434343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■"/>
            </a:pPr>
            <a:r>
              <a:rPr lang="en" sz="1300">
                <a:solidFill>
                  <a:srgbClr val="434343"/>
                </a:solidFill>
              </a:rPr>
              <a:t>Higher level of control disambiguates between appropriate and inappropriate combinations of lower level selections.</a:t>
            </a:r>
            <a:endParaRPr sz="13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7573800" y="4569025"/>
            <a:ext cx="15702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ct val="76016"/>
              <a:buNone/>
            </a:pPr>
            <a:r>
              <a:rPr lang="en" sz="1230"/>
              <a:t>(Redgrave et al., 1999) </a:t>
            </a:r>
            <a:endParaRPr sz="123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850" y="1369638"/>
            <a:ext cx="2863775" cy="29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SELECTION DEVICE = BASAL GANGLIA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050" y="1431588"/>
            <a:ext cx="3933275" cy="308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7155725" y="4602700"/>
            <a:ext cx="23442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230"/>
              <a:t>(Redgrave et al., 1999) </a:t>
            </a:r>
            <a:endParaRPr sz="1230"/>
          </a:p>
        </p:txBody>
      </p:sp>
      <p:sp>
        <p:nvSpPr>
          <p:cNvPr id="102" name="Google Shape;102;p18"/>
          <p:cNvSpPr txBox="1"/>
          <p:nvPr/>
        </p:nvSpPr>
        <p:spPr>
          <a:xfrm>
            <a:off x="184100" y="1518113"/>
            <a:ext cx="47313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-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Multi-channel Architecture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-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Restricted motor resources between competing demands. 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-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Access to motor system is given for most 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salient</a:t>
            </a: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input.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-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Selection device→ enables connections between the winning command and the motor plant while simultaneously denying access to the losers.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-"/>
            </a:pPr>
            <a:r>
              <a:rPr lang="en"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tonic inhibitory output from the basal ganglia to thalamus blocks the direct connections between command systems (at all hierarchical levels) and the motor plant</a:t>
            </a:r>
            <a:endParaRPr sz="13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879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GPR MODEL (Gurney et al., 2001)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959775" y="1266325"/>
            <a:ext cx="5055900" cy="3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b="1" lang="en" sz="1465"/>
              <a:t>Signal selection </a:t>
            </a:r>
            <a:r>
              <a:rPr lang="en" sz="1465"/>
              <a:t>→ each action has s</a:t>
            </a:r>
            <a:r>
              <a:rPr lang="en" sz="1419"/>
              <a:t>calar-valued signal </a:t>
            </a:r>
            <a:r>
              <a:rPr b="1" lang="en" sz="1419"/>
              <a:t>= salience. </a:t>
            </a:r>
            <a:endParaRPr b="1" sz="1419"/>
          </a:p>
          <a:p>
            <a:pPr indent="-31869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19"/>
              <a:buChar char="●"/>
            </a:pPr>
            <a:r>
              <a:rPr b="1" lang="en" sz="1419"/>
              <a:t>Action selection</a:t>
            </a:r>
            <a:r>
              <a:rPr lang="en" sz="1419"/>
              <a:t>→ signal selection of the largest salience-signal inputs (which is the low signal output at GPi)</a:t>
            </a:r>
            <a:endParaRPr b="1" sz="1465"/>
          </a:p>
          <a:p>
            <a:pPr indent="-3216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5"/>
              <a:buChar char="●"/>
            </a:pPr>
            <a:r>
              <a:rPr b="1" lang="en" sz="1465"/>
              <a:t>Direct</a:t>
            </a:r>
            <a:r>
              <a:rPr lang="en" sz="1465"/>
              <a:t> pathway = </a:t>
            </a:r>
            <a:r>
              <a:rPr b="1" lang="en" sz="1465"/>
              <a:t>Selection</a:t>
            </a:r>
            <a:r>
              <a:rPr lang="en" sz="1465"/>
              <a:t> pathway (facilitating)</a:t>
            </a:r>
            <a:endParaRPr sz="1465"/>
          </a:p>
          <a:p>
            <a:pPr indent="-3216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5"/>
              <a:buChar char="●"/>
            </a:pPr>
            <a:r>
              <a:rPr b="1" lang="en" sz="1465"/>
              <a:t>Indirect</a:t>
            </a:r>
            <a:r>
              <a:rPr lang="en" sz="1465"/>
              <a:t> pathway = </a:t>
            </a:r>
            <a:r>
              <a:rPr b="1" lang="en" sz="1465"/>
              <a:t>C</a:t>
            </a:r>
            <a:r>
              <a:rPr b="1" lang="en" sz="1465"/>
              <a:t>ontrol</a:t>
            </a:r>
            <a:r>
              <a:rPr lang="en" sz="1465"/>
              <a:t> pathway (suppressing)</a:t>
            </a:r>
            <a:endParaRPr sz="1465"/>
          </a:p>
          <a:p>
            <a:pPr indent="-3216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65"/>
              <a:buChar char="●"/>
            </a:pPr>
            <a:r>
              <a:rPr lang="en" sz="1465"/>
              <a:t>Later research → </a:t>
            </a:r>
            <a:r>
              <a:rPr b="1" lang="en" sz="1465"/>
              <a:t>Hyperdirect</a:t>
            </a:r>
            <a:r>
              <a:rPr lang="en" sz="1465"/>
              <a:t> pathway </a:t>
            </a:r>
            <a:endParaRPr sz="1465"/>
          </a:p>
          <a:p>
            <a:pPr indent="-31869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19"/>
              <a:buChar char="●"/>
            </a:pPr>
            <a:r>
              <a:rPr lang="en" sz="1419"/>
              <a:t>Net effect→ </a:t>
            </a:r>
            <a:r>
              <a:rPr lang="en" sz="1419"/>
              <a:t>Selection and control pathways </a:t>
            </a:r>
            <a:r>
              <a:rPr lang="en" sz="1419"/>
              <a:t>inhibit the GPi (disinhibition*) so that an action is selected </a:t>
            </a:r>
            <a:endParaRPr sz="1419"/>
          </a:p>
          <a:p>
            <a:pPr indent="-31869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19"/>
              <a:buChar char="●"/>
            </a:pPr>
            <a:r>
              <a:rPr lang="en" sz="1465"/>
              <a:t>Hard switching / Soft switching</a:t>
            </a:r>
            <a:endParaRPr sz="1465"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54185" r="0" t="0"/>
          <a:stretch/>
        </p:blipFill>
        <p:spPr>
          <a:xfrm>
            <a:off x="242750" y="1087112"/>
            <a:ext cx="3717026" cy="28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2192975" y="3683525"/>
            <a:ext cx="1780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Blue: inhibitory connections</a:t>
            </a:r>
            <a:endParaRPr b="1" sz="10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Red: excitatory connections</a:t>
            </a:r>
            <a:endParaRPr b="1" sz="10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77375" y="4717000"/>
            <a:ext cx="2600700" cy="3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Gurney et al., 2001; </a:t>
            </a:r>
            <a:r>
              <a:rPr lang="en"/>
              <a:t>Humphries &amp; Gurney, 2021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510725" y="2525663"/>
            <a:ext cx="4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148175" y="2571750"/>
            <a:ext cx="4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748525" y="2699525"/>
            <a:ext cx="4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863900" y="1326250"/>
            <a:ext cx="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16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1675125" y="1478650"/>
            <a:ext cx="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16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2914025" y="1478650"/>
            <a:ext cx="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16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501225" y="2359963"/>
            <a:ext cx="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16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2402025" y="2359963"/>
            <a:ext cx="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b="1" sz="16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938525" y="4299125"/>
            <a:ext cx="878400" cy="33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Thalamus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1377725" y="3940800"/>
            <a:ext cx="0" cy="388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9"/>
          <p:cNvSpPr txBox="1"/>
          <p:nvPr/>
        </p:nvSpPr>
        <p:spPr>
          <a:xfrm>
            <a:off x="1456375" y="3842875"/>
            <a:ext cx="4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 b="1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990425" y="3067825"/>
            <a:ext cx="387300" cy="338700"/>
          </a:xfrm>
          <a:prstGeom prst="rect">
            <a:avLst/>
          </a:prstGeom>
          <a:solidFill>
            <a:srgbClr val="FCFCF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GPi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131650" y="445025"/>
            <a:ext cx="870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BELIEVER-SKEPTIC FRAMEWORK FOR DECISION-MAKING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108800"/>
            <a:ext cx="1775400" cy="3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/>
              <a:t>- </a:t>
            </a:r>
            <a:r>
              <a:rPr lang="en" sz="1190"/>
              <a:t>3 pathways are not independent, they compete with each other </a:t>
            </a:r>
            <a:r>
              <a:rPr lang="en" sz="1190"/>
              <a:t>during each action </a:t>
            </a:r>
            <a:endParaRPr sz="11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90"/>
              <a:t>-Believer-Skeptic framework: dynamic competition (of action facilitating and suppressing states) through a decision threshold (switching mechanism: accumulating evidence → action execution)</a:t>
            </a:r>
            <a:endParaRPr sz="1190"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 b="0" l="56234" r="0" t="0"/>
          <a:stretch/>
        </p:blipFill>
        <p:spPr>
          <a:xfrm>
            <a:off x="2000475" y="1152425"/>
            <a:ext cx="2484825" cy="29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6799800" y="4617900"/>
            <a:ext cx="23442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(Dunovan &amp; Verstynen, 2016) 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075" y="1152425"/>
            <a:ext cx="4682091" cy="34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FOR DECISION-MAKING</a:t>
            </a:r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50" y="1101425"/>
            <a:ext cx="7477950" cy="389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3425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Dopaminergic connections within Basal Ganglia structures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in dopamine is a reward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Sensitizes dMSNs (direct pathway medium spiny neurons)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Desensitizes iMSNs (indirect pathway medium spiny neurons)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in reinforcement learning → tendency to repeat that action in the future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STEP: NENGO MODEL OF BASAL GANGLIA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37775"/>
            <a:ext cx="5931575" cy="3752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 rotWithShape="1">
          <a:blip r:embed="rId4">
            <a:alphaModFix/>
          </a:blip>
          <a:srcRect b="3549" l="5706" r="2995" t="0"/>
          <a:stretch/>
        </p:blipFill>
        <p:spPr>
          <a:xfrm>
            <a:off x="6653000" y="1409325"/>
            <a:ext cx="2275550" cy="19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6652875" y="3494800"/>
            <a:ext cx="2350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Semantic Pointer Architecture in Nengo (SPA)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Action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Cambridge Dictionary. (n.d.). Retrieved February 15, 2022, from https://dictionary.cambridge.org/dictionary/english/action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Dunovan, K., &amp; Verstynen, T. (2016). Believer-Skeptic meets actor-critic: Rethinking the role of Basal Ganglia Pathways during decision-making and reinforcement learning.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Frontiers in Neuroscience, 10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106. </a:t>
            </a:r>
            <a:r>
              <a:rPr lang="en" sz="1100"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https://doi.org/10.3389/fnins.2016.00106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Gurney, K., Prescott, T.J., &amp; Redgrave, P. (2001). A computational model of action selection in the Basal Ganglia: A new functional anatomy.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Biological Cybernetics, 84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(6)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401- 410. </a:t>
            </a:r>
            <a:r>
              <a:rPr lang="en" sz="1100">
                <a:highlight>
                  <a:srgbClr val="FCFCFC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https://doi.org/10.1007/PL00007984</a:t>
            </a:r>
            <a:endParaRPr sz="1100"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Humphries, M. D., &amp; Gurney, K. (2021). Making decisions in the dark basement of the brain: A look back at the GPR model of action selection and the basal ganglia. </a:t>
            </a:r>
            <a:r>
              <a:rPr i="1" lang="en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Biological cybernetics</a:t>
            </a:r>
            <a:r>
              <a:rPr lang="en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115</a:t>
            </a:r>
            <a:r>
              <a:rPr lang="en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(4), 323-329. </a:t>
            </a:r>
            <a:r>
              <a:rPr lang="en" sz="1100">
                <a:highlight>
                  <a:srgbClr val="FCFCFC"/>
                </a:highlight>
                <a:latin typeface="Arial"/>
                <a:ea typeface="Arial"/>
                <a:cs typeface="Arial"/>
                <a:sym typeface="Arial"/>
              </a:rPr>
              <a:t>https://doi.org/10.1007/s00422-021-00887-5</a:t>
            </a:r>
            <a:endParaRPr i="1" sz="1100">
              <a:highlight>
                <a:srgbClr val="FCFCF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Redgrave, P., Prescott, T.J., &amp; Gurney, K. (1999). The Basal Ganglia: A vertebrate solution to the selection problem?.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Neuroscience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89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(4), 1009–1023. </a:t>
            </a:r>
            <a:r>
              <a:rPr lang="en" sz="1100">
                <a:highlight>
                  <a:schemeClr val="lt1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http://dx.doi.org/10.1016/S0306-4522(98)00319-4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143000" lvl="0" marL="1143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		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E5"/>
      </a:dk1>
      <a:lt1>
        <a:srgbClr val="FFFFFF"/>
      </a:lt1>
      <a:dk2>
        <a:srgbClr val="434343"/>
      </a:dk2>
      <a:lt2>
        <a:srgbClr val="999999"/>
      </a:lt2>
      <a:accent1>
        <a:srgbClr val="434343"/>
      </a:accent1>
      <a:accent2>
        <a:srgbClr val="CE93D8"/>
      </a:accent2>
      <a:accent3>
        <a:srgbClr val="4D7AB6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